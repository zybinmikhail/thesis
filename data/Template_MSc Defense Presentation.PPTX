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14"/>
  </p:notesMasterIdLst>
  <p:sldIdLst>
    <p:sldId id="258" r:id="rId2"/>
    <p:sldId id="259" r:id="rId3"/>
    <p:sldId id="260" r:id="rId4"/>
    <p:sldId id="261" r:id="rId5"/>
    <p:sldId id="262" r:id="rId6"/>
    <p:sldId id="263" r:id="rId7"/>
    <p:sldId id="272" r:id="rId8"/>
    <p:sldId id="265" r:id="rId9"/>
    <p:sldId id="273" r:id="rId10"/>
    <p:sldId id="274" r:id="rId11"/>
    <p:sldId id="275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8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3" autoAdjust="0"/>
    <p:restoredTop sz="94637" autoAdjust="0"/>
  </p:normalViewPr>
  <p:slideViewPr>
    <p:cSldViewPr snapToGrid="0">
      <p:cViewPr varScale="1">
        <p:scale>
          <a:sx n="65" d="100"/>
          <a:sy n="65" d="100"/>
        </p:scale>
        <p:origin x="696" y="40"/>
      </p:cViewPr>
      <p:guideLst>
        <p:guide orient="horz" pos="318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572183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Phrases you may find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 smtClean="0"/>
              <a:t>The area of my research covers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 smtClean="0"/>
              <a:t>Today … has been already studied in the field.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1132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i="1" dirty="0" smtClean="0"/>
              <a:t>The overall purpose of the work is to …  </a:t>
            </a:r>
          </a:p>
          <a:p>
            <a:endParaRPr lang="ru-RU" dirty="0" smtClean="0"/>
          </a:p>
          <a:p>
            <a:r>
              <a:rPr lang="en-US" dirty="0" smtClean="0"/>
              <a:t>The objectives of the present research run as follows:</a:t>
            </a:r>
          </a:p>
          <a:p>
            <a:r>
              <a:rPr lang="en-US" dirty="0" smtClean="0"/>
              <a:t>1… </a:t>
            </a:r>
          </a:p>
          <a:p>
            <a:r>
              <a:rPr lang="en-US" dirty="0" smtClean="0"/>
              <a:t>2… </a:t>
            </a:r>
          </a:p>
          <a:p>
            <a:r>
              <a:rPr lang="en-US" dirty="0" smtClean="0"/>
              <a:t>3…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1858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Phrases you may find useful: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i="1" dirty="0" smtClean="0"/>
              <a:t>All these results suggest that …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i="1" dirty="0" smtClean="0"/>
              <a:t>We can conclude that … 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i="1" dirty="0" smtClean="0"/>
              <a:t>Taken together, these results point to three conclusions …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i="1" dirty="0" smtClean="0"/>
              <a:t>To sum up, … 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i="1" dirty="0" smtClean="0"/>
              <a:t>Although it is still too early to draw a definite conclusion, it can be stated that … </a:t>
            </a:r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i="1" dirty="0" smtClean="0"/>
              <a:t>Although the obtained data are limited, we may conclude that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0012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0012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Phrases you may find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 smtClean="0"/>
              <a:t>The achieved results indicate that the work along the same line should proceed. Thus, the long-term results of the project are to …</a:t>
            </a:r>
            <a:endParaRPr lang="ru-RU" i="1" dirty="0" smtClean="0"/>
          </a:p>
          <a:p>
            <a:pPr marL="400050" indent="-1714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0012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Phrases you may find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 smtClean="0"/>
              <a:t>I would like to express my gratitude to … who &lt;provided </a:t>
            </a:r>
            <a:r>
              <a:rPr lang="en-US" i="1" dirty="0" err="1" smtClean="0"/>
              <a:t>smth</a:t>
            </a:r>
            <a:r>
              <a:rPr lang="en-US" i="1" dirty="0" smtClean="0"/>
              <a:t> /assisted in </a:t>
            </a:r>
            <a:r>
              <a:rPr lang="en-US" i="1" dirty="0" err="1" smtClean="0"/>
              <a:t>smth</a:t>
            </a:r>
            <a:r>
              <a:rPr lang="en-US" i="1" dirty="0" smtClean="0"/>
              <a:t>/ conducted </a:t>
            </a:r>
            <a:r>
              <a:rPr lang="en-US" i="1" dirty="0" err="1" smtClean="0"/>
              <a:t>smth</a:t>
            </a:r>
            <a:r>
              <a:rPr lang="en-US" i="1" dirty="0" smtClean="0"/>
              <a:t>/ etc.&gt;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 smtClean="0"/>
              <a:t>Thank you for your attention. Now I’m ready to answer your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7839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">
  <p:cSld name="Speak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952416" y="2047258"/>
            <a:ext cx="5803900" cy="196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6116583" y="4190514"/>
            <a:ext cx="4639733" cy="39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3"/>
          </p:nvPr>
        </p:nvSpPr>
        <p:spPr>
          <a:xfrm>
            <a:off x="6116583" y="5117646"/>
            <a:ext cx="4639733" cy="138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>
            <a:spLocks noGrp="1"/>
          </p:cNvSpPr>
          <p:nvPr>
            <p:ph type="pic" idx="4"/>
          </p:nvPr>
        </p:nvSpPr>
        <p:spPr>
          <a:xfrm>
            <a:off x="1018584" y="1101667"/>
            <a:ext cx="3481387" cy="348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10194586" y="-1997414"/>
            <a:ext cx="3994827" cy="3994827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ver+partners">
  <p:cSld name="2_Cover+partners">
    <p:bg>
      <p:bgPr>
        <a:solidFill>
          <a:srgbClr val="AAC50B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8"/>
          <p:cNvPicPr preferRelativeResize="0"/>
          <p:nvPr/>
        </p:nvPicPr>
        <p:blipFill rotWithShape="1">
          <a:blip r:embed="rId2">
            <a:alphaModFix/>
          </a:blip>
          <a:srcRect b="40050"/>
          <a:stretch/>
        </p:blipFill>
        <p:spPr>
          <a:xfrm rot="-5400000">
            <a:off x="9483100" y="2054836"/>
            <a:ext cx="3500015" cy="662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8"/>
          <p:cNvPicPr preferRelativeResize="0"/>
          <p:nvPr/>
        </p:nvPicPr>
        <p:blipFill rotWithShape="1">
          <a:blip r:embed="rId3">
            <a:alphaModFix/>
          </a:blip>
          <a:srcRect t="50017"/>
          <a:stretch/>
        </p:blipFill>
        <p:spPr>
          <a:xfrm>
            <a:off x="0" y="4133741"/>
            <a:ext cx="12192001" cy="272426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body" idx="1"/>
          </p:nvPr>
        </p:nvSpPr>
        <p:spPr>
          <a:xfrm>
            <a:off x="1052215" y="635886"/>
            <a:ext cx="7977485" cy="4354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2"/>
          </p:nvPr>
        </p:nvSpPr>
        <p:spPr>
          <a:xfrm>
            <a:off x="1052215" y="5595431"/>
            <a:ext cx="2457467" cy="4376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70" name="Google Shape;70;p8"/>
          <p:cNvCxnSpPr/>
          <p:nvPr/>
        </p:nvCxnSpPr>
        <p:spPr>
          <a:xfrm>
            <a:off x="5715001" y="5785757"/>
            <a:ext cx="5600700" cy="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1" name="Google Shape;71;p8"/>
          <p:cNvCxnSpPr/>
          <p:nvPr/>
        </p:nvCxnSpPr>
        <p:spPr>
          <a:xfrm>
            <a:off x="11283043" y="4310743"/>
            <a:ext cx="0" cy="1475014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  <p15:guide id="2" orient="horz" pos="24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peaker">
  <p:cSld name="1_Speak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1"/>
          </p:nvPr>
        </p:nvSpPr>
        <p:spPr>
          <a:xfrm>
            <a:off x="4952416" y="2047258"/>
            <a:ext cx="5803900" cy="196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2"/>
          </p:nvPr>
        </p:nvSpPr>
        <p:spPr>
          <a:xfrm>
            <a:off x="6116583" y="4190514"/>
            <a:ext cx="4639733" cy="39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3"/>
          </p:nvPr>
        </p:nvSpPr>
        <p:spPr>
          <a:xfrm>
            <a:off x="6116583" y="5117646"/>
            <a:ext cx="4639733" cy="138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9"/>
          <p:cNvSpPr>
            <a:spLocks noGrp="1"/>
          </p:cNvSpPr>
          <p:nvPr>
            <p:ph type="pic" idx="4"/>
          </p:nvPr>
        </p:nvSpPr>
        <p:spPr>
          <a:xfrm>
            <a:off x="1018584" y="1101667"/>
            <a:ext cx="3481387" cy="348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/>
          <p:nvPr/>
        </p:nvSpPr>
        <p:spPr>
          <a:xfrm>
            <a:off x="10194586" y="-1997414"/>
            <a:ext cx="3994827" cy="3994827"/>
          </a:xfrm>
          <a:prstGeom prst="pie">
            <a:avLst>
              <a:gd name="adj1" fmla="val 5396160"/>
              <a:gd name="adj2" fmla="val 10809062"/>
            </a:avLst>
          </a:prstGeom>
          <a:solidFill>
            <a:srgbClr val="AAC5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peaker: bio">
  <p:cSld name="1_Speaker: bio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1"/>
          </p:nvPr>
        </p:nvSpPr>
        <p:spPr>
          <a:xfrm>
            <a:off x="3139624" y="365123"/>
            <a:ext cx="7847862" cy="605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2"/>
          </p:nvPr>
        </p:nvSpPr>
        <p:spPr>
          <a:xfrm>
            <a:off x="796243" y="2541481"/>
            <a:ext cx="884512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3"/>
          </p:nvPr>
        </p:nvSpPr>
        <p:spPr>
          <a:xfrm>
            <a:off x="796242" y="3493118"/>
            <a:ext cx="2159000" cy="6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8840264" y="2512345"/>
            <a:ext cx="5941050" cy="1646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0" b="1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rPr>
              <a:t>about me</a:t>
            </a:r>
            <a:endParaRPr sz="10100" b="1">
              <a:solidFill>
                <a:srgbClr val="AAC5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>
            <a:spLocks noGrp="1"/>
          </p:cNvSpPr>
          <p:nvPr>
            <p:ph type="pic" idx="4"/>
          </p:nvPr>
        </p:nvSpPr>
        <p:spPr>
          <a:xfrm>
            <a:off x="796242" y="365122"/>
            <a:ext cx="2060615" cy="206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body" idx="5"/>
          </p:nvPr>
        </p:nvSpPr>
        <p:spPr>
          <a:xfrm>
            <a:off x="796242" y="2974142"/>
            <a:ext cx="1274488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act: basic">
  <p:cSld name="1_Contact: basic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1"/>
          </p:nvPr>
        </p:nvSpPr>
        <p:spPr>
          <a:xfrm>
            <a:off x="938280" y="1426345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11"/>
          <p:cNvSpPr txBox="1"/>
          <p:nvPr/>
        </p:nvSpPr>
        <p:spPr>
          <a:xfrm rot="-5400000">
            <a:off x="9019740" y="2400979"/>
            <a:ext cx="5429692" cy="18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1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sz="11500" b="1">
              <a:solidFill>
                <a:srgbClr val="AAC5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1"/>
          <p:cNvSpPr txBox="1"/>
          <p:nvPr/>
        </p:nvSpPr>
        <p:spPr>
          <a:xfrm>
            <a:off x="938280" y="86804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e-mail:</a:t>
            </a:r>
            <a:endParaRPr sz="1800" b="1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1"/>
          <p:cNvSpPr txBox="1"/>
          <p:nvPr/>
        </p:nvSpPr>
        <p:spPr>
          <a:xfrm>
            <a:off x="938280" y="251449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phone:</a:t>
            </a:r>
            <a:endParaRPr sz="1800" b="1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2"/>
          </p:nvPr>
        </p:nvSpPr>
        <p:spPr>
          <a:xfrm>
            <a:off x="938280" y="3054843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3"/>
          </p:nvPr>
        </p:nvSpPr>
        <p:spPr>
          <a:xfrm>
            <a:off x="938280" y="3983034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act: advanced">
  <p:cSld name="1_Contact: advanced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2"/>
          <p:cNvSpPr txBox="1">
            <a:spLocks noGrp="1"/>
          </p:cNvSpPr>
          <p:nvPr>
            <p:ph type="body" idx="1"/>
          </p:nvPr>
        </p:nvSpPr>
        <p:spPr>
          <a:xfrm>
            <a:off x="938280" y="1426345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12"/>
          <p:cNvSpPr txBox="1"/>
          <p:nvPr/>
        </p:nvSpPr>
        <p:spPr>
          <a:xfrm rot="-5400000">
            <a:off x="9019740" y="2400979"/>
            <a:ext cx="5429692" cy="18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1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sz="11500" b="1">
              <a:solidFill>
                <a:srgbClr val="AAC5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2"/>
          <p:cNvSpPr txBox="1"/>
          <p:nvPr/>
        </p:nvSpPr>
        <p:spPr>
          <a:xfrm>
            <a:off x="938280" y="86804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e-mail:</a:t>
            </a:r>
            <a:endParaRPr sz="1800" b="1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2"/>
          <p:cNvSpPr txBox="1"/>
          <p:nvPr/>
        </p:nvSpPr>
        <p:spPr>
          <a:xfrm>
            <a:off x="938280" y="251449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phone:</a:t>
            </a:r>
            <a:endParaRPr sz="1800" b="1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2"/>
          </p:nvPr>
        </p:nvSpPr>
        <p:spPr>
          <a:xfrm>
            <a:off x="938280" y="3054843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body" idx="3"/>
          </p:nvPr>
        </p:nvSpPr>
        <p:spPr>
          <a:xfrm>
            <a:off x="938280" y="3983034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2"/>
          <p:cNvSpPr txBox="1"/>
          <p:nvPr/>
        </p:nvSpPr>
        <p:spPr>
          <a:xfrm>
            <a:off x="938280" y="5980919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social:</a:t>
            </a:r>
            <a:endParaRPr sz="1800" b="1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24312" y="6029069"/>
            <a:ext cx="252042" cy="252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2660" y="6029069"/>
            <a:ext cx="252042" cy="252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76910" y="6023543"/>
            <a:ext cx="252042" cy="25204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2"/>
          <p:cNvSpPr txBox="1">
            <a:spLocks noGrp="1"/>
          </p:cNvSpPr>
          <p:nvPr>
            <p:ph type="body" idx="4"/>
          </p:nvPr>
        </p:nvSpPr>
        <p:spPr>
          <a:xfrm>
            <a:off x="2667434" y="6002231"/>
            <a:ext cx="2383701" cy="29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body" idx="5"/>
          </p:nvPr>
        </p:nvSpPr>
        <p:spPr>
          <a:xfrm>
            <a:off x="5713849" y="6002231"/>
            <a:ext cx="2547933" cy="29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body" idx="6"/>
          </p:nvPr>
        </p:nvSpPr>
        <p:spPr>
          <a:xfrm>
            <a:off x="8839599" y="5980919"/>
            <a:ext cx="2541779" cy="29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ver+partners">
  <p:cSld name="3_Cover+partners">
    <p:bg>
      <p:bgPr>
        <a:solidFill>
          <a:srgbClr val="AAC50B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/>
        </p:nvSpPr>
        <p:spPr>
          <a:xfrm>
            <a:off x="921748" y="182880"/>
            <a:ext cx="9472204" cy="264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thx.</a:t>
            </a:r>
            <a:endParaRPr sz="16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3"/>
          <p:cNvPicPr preferRelativeResize="0"/>
          <p:nvPr/>
        </p:nvPicPr>
        <p:blipFill rotWithShape="1">
          <a:blip r:embed="rId2">
            <a:alphaModFix/>
          </a:blip>
          <a:srcRect b="40050"/>
          <a:stretch/>
        </p:blipFill>
        <p:spPr>
          <a:xfrm rot="-5400000">
            <a:off x="9483100" y="2054836"/>
            <a:ext cx="3500015" cy="662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3"/>
          <p:cNvPicPr preferRelativeResize="0"/>
          <p:nvPr/>
        </p:nvPicPr>
        <p:blipFill rotWithShape="1">
          <a:blip r:embed="rId3">
            <a:alphaModFix/>
          </a:blip>
          <a:srcRect t="50017"/>
          <a:stretch/>
        </p:blipFill>
        <p:spPr>
          <a:xfrm>
            <a:off x="0" y="4133741"/>
            <a:ext cx="12192001" cy="27242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3"/>
          <p:cNvCxnSpPr/>
          <p:nvPr/>
        </p:nvCxnSpPr>
        <p:spPr>
          <a:xfrm>
            <a:off x="0" y="5785757"/>
            <a:ext cx="11315701" cy="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11283043" y="4310743"/>
            <a:ext cx="0" cy="1475014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  <p15:guide id="2" orient="horz" pos="24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534123" y="907624"/>
            <a:ext cx="249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M</a:t>
            </a:r>
            <a:r>
              <a:rPr lang="en-US" i="1" dirty="0" smtClean="0"/>
              <a:t>Sc </a:t>
            </a:r>
            <a:r>
              <a:rPr lang="en-US" i="1" dirty="0"/>
              <a:t>P</a:t>
            </a:r>
            <a:r>
              <a:rPr lang="en-US" i="1" dirty="0" smtClean="0"/>
              <a:t>rogram</a:t>
            </a:r>
            <a:endParaRPr lang="ru-RU" i="1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615961" y="1872236"/>
            <a:ext cx="3578469" cy="9965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 smtClean="0"/>
              <a:t>Thesis Title</a:t>
            </a:r>
            <a:endParaRPr lang="en-US" sz="40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695967" y="3528403"/>
            <a:ext cx="6400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r"/>
            <a:r>
              <a:rPr lang="en-US" sz="2000" b="0" dirty="0" smtClean="0"/>
              <a:t>Student: </a:t>
            </a:r>
            <a:r>
              <a:rPr lang="en-US" sz="2000" b="0" i="1" dirty="0" smtClean="0"/>
              <a:t>Name Surname</a:t>
            </a:r>
          </a:p>
          <a:p>
            <a:pPr algn="r"/>
            <a:r>
              <a:rPr lang="en-US" sz="2000" b="0" dirty="0" smtClean="0"/>
              <a:t>Research Advisor: </a:t>
            </a:r>
            <a:r>
              <a:rPr lang="en-US" sz="2000" b="0" i="1" dirty="0" smtClean="0"/>
              <a:t>Name Surname</a:t>
            </a:r>
          </a:p>
          <a:p>
            <a:pPr algn="r"/>
            <a:r>
              <a:rPr lang="en-US" sz="2000" b="0" i="1" dirty="0" smtClean="0"/>
              <a:t>Co-Advisor (if any): Name Surname </a:t>
            </a:r>
            <a:endParaRPr lang="en-US" sz="2000" b="0" dirty="0" smtClean="0"/>
          </a:p>
          <a:p>
            <a:pPr indent="-457200">
              <a:buFontTx/>
              <a:buChar char="-"/>
            </a:pPr>
            <a:endParaRPr lang="en-US" dirty="0" smtClean="0"/>
          </a:p>
          <a:p>
            <a:pPr indent="-457200">
              <a:buFontTx/>
              <a:buChar char="-"/>
            </a:pPr>
            <a:endParaRPr lang="en-US" dirty="0" smtClean="0"/>
          </a:p>
          <a:p>
            <a:pPr marL="0" indent="0"/>
            <a:endParaRPr lang="en-US" dirty="0" smtClean="0"/>
          </a:p>
          <a:p>
            <a:pPr marL="0" indent="0"/>
            <a:endParaRPr lang="en-US" dirty="0" smtClean="0"/>
          </a:p>
          <a:p>
            <a:pPr marL="0" indent="0"/>
            <a:endParaRPr lang="en-US" dirty="0" smtClean="0"/>
          </a:p>
          <a:p>
            <a:pPr marL="0" indent="0"/>
            <a:endParaRPr lang="en-US" dirty="0"/>
          </a:p>
        </p:txBody>
      </p:sp>
      <p:sp>
        <p:nvSpPr>
          <p:cNvPr id="9" name="Subtitle 1"/>
          <p:cNvSpPr txBox="1">
            <a:spLocks/>
          </p:cNvSpPr>
          <p:nvPr/>
        </p:nvSpPr>
        <p:spPr>
          <a:xfrm>
            <a:off x="3204795" y="5938164"/>
            <a:ext cx="6400800" cy="34003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spcBef>
                <a:spcPts val="800"/>
              </a:spcBef>
              <a:buFont typeface="Arial" pitchFamily="34" charset="0"/>
              <a:buNone/>
              <a:defRPr sz="3200" b="0" kern="1200">
                <a:solidFill>
                  <a:srgbClr val="595959"/>
                </a:solidFill>
                <a:latin typeface="Arial Unicode MS"/>
                <a:ea typeface="+mn-ea"/>
                <a:cs typeface="Arial Unicode MS"/>
              </a:defRPr>
            </a:lvl1pPr>
            <a:lvl2pPr marL="4572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3200" b="0" kern="1200">
                <a:solidFill>
                  <a:schemeClr val="tx1">
                    <a:tint val="75000"/>
                  </a:schemeClr>
                </a:solidFill>
                <a:latin typeface="Arial Unicode MS"/>
                <a:ea typeface="+mn-ea"/>
                <a:cs typeface="Arial Unicode MS"/>
              </a:defRPr>
            </a:lvl2pPr>
            <a:lvl3pPr marL="9144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3200" b="0" kern="1200">
                <a:solidFill>
                  <a:schemeClr val="tx1">
                    <a:tint val="75000"/>
                  </a:schemeClr>
                </a:solidFill>
                <a:latin typeface="Arial Unicode MS"/>
                <a:ea typeface="+mn-ea"/>
                <a:cs typeface="Arial Unicode MS"/>
              </a:defRPr>
            </a:lvl3pPr>
            <a:lvl4pPr marL="13716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3200" b="0" kern="1200">
                <a:solidFill>
                  <a:schemeClr val="tx1">
                    <a:tint val="75000"/>
                  </a:schemeClr>
                </a:solidFill>
                <a:latin typeface="Arial Unicode MS"/>
                <a:ea typeface="+mn-ea"/>
                <a:cs typeface="Arial Unicode MS"/>
              </a:defRPr>
            </a:lvl4pPr>
            <a:lvl5pPr marL="18288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3200" b="0" kern="1200">
                <a:solidFill>
                  <a:schemeClr val="tx1">
                    <a:tint val="75000"/>
                  </a:schemeClr>
                </a:solidFill>
                <a:latin typeface="Arial Unicode MS"/>
                <a:ea typeface="+mn-ea"/>
                <a:cs typeface="Arial Unicode MS"/>
              </a:defRPr>
            </a:lvl5pPr>
            <a:lvl6pPr marL="22860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Month, Year</a:t>
            </a:r>
            <a:endParaRPr lang="en-US" dirty="0"/>
          </a:p>
          <a:p>
            <a:endParaRPr lang="en-US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6E2E44C-2A57-4792-AF8D-B0EEFF787FAE}"/>
              </a:ext>
            </a:extLst>
          </p:cNvPr>
          <p:cNvSpPr txBox="1">
            <a:spLocks/>
          </p:cNvSpPr>
          <p:nvPr/>
        </p:nvSpPr>
        <p:spPr>
          <a:xfrm>
            <a:off x="10300608" y="6278196"/>
            <a:ext cx="1891392" cy="340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457200" rtl="0" eaLnBrk="1" latinLnBrk="0" hangingPunct="1">
              <a:defRPr sz="1000" kern="1200" cap="all" spc="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rgbClr val="FF0000"/>
                </a:solidFill>
              </a:rPr>
              <a:t>Slides should be numbered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023122" y="158455"/>
            <a:ext cx="3785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ru-RU" dirty="0"/>
              <a:t>4</a:t>
            </a:r>
            <a:r>
              <a:rPr lang="en-US" dirty="0" smtClean="0"/>
              <a:t> </a:t>
            </a:r>
            <a:r>
              <a:rPr lang="en-US" dirty="0"/>
              <a:t>/ Appendix </a:t>
            </a:r>
            <a:r>
              <a:rPr lang="ru-RU" dirty="0"/>
              <a:t>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44060" y="781403"/>
            <a:ext cx="10577147" cy="137271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 smtClean="0"/>
              <a:t>General problem / Introduction / </a:t>
            </a:r>
          </a:p>
          <a:p>
            <a:r>
              <a:rPr lang="en-US" sz="4000" dirty="0" smtClean="0"/>
              <a:t>Background </a:t>
            </a:r>
            <a:endParaRPr lang="ru-RU" sz="40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63287" y="2863655"/>
            <a:ext cx="9894371" cy="287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/>
            <a:r>
              <a:rPr lang="en-US" sz="2800" b="0" dirty="0" smtClean="0"/>
              <a:t>General area, background, context, gaps in the current knowledge</a:t>
            </a:r>
            <a:endParaRPr lang="ru-RU" sz="2800" b="0" dirty="0" smtClean="0"/>
          </a:p>
          <a:p>
            <a:pPr indent="0"/>
            <a:endParaRPr lang="ru-RU" sz="2800" b="0" dirty="0"/>
          </a:p>
          <a:p>
            <a:pPr marL="571500" indent="-571500"/>
            <a:r>
              <a:rPr lang="en-US" sz="1800" dirty="0" smtClean="0">
                <a:solidFill>
                  <a:srgbClr val="C00000"/>
                </a:solidFill>
              </a:rPr>
              <a:t>NB</a:t>
            </a:r>
            <a:r>
              <a:rPr lang="en-US" sz="1800" dirty="0">
                <a:solidFill>
                  <a:srgbClr val="C00000"/>
                </a:solidFill>
              </a:rPr>
              <a:t>!</a:t>
            </a:r>
          </a:p>
          <a:p>
            <a:r>
              <a:rPr lang="en-US" sz="1800" dirty="0">
                <a:solidFill>
                  <a:srgbClr val="C00000"/>
                </a:solidFill>
              </a:rPr>
              <a:t>In the series of slides ‘General Problem/Introduction/Background’ you are supposed to express </a:t>
            </a:r>
            <a:r>
              <a:rPr lang="en-US" sz="1800" u="sng" dirty="0">
                <a:solidFill>
                  <a:srgbClr val="C00000"/>
                </a:solidFill>
              </a:rPr>
              <a:t>motivation of the project</a:t>
            </a:r>
            <a:r>
              <a:rPr lang="en-US" sz="1800" dirty="0">
                <a:solidFill>
                  <a:srgbClr val="C00000"/>
                </a:solidFill>
              </a:rPr>
              <a:t> (this criterion is going to be evaluated by the Reviewers).</a:t>
            </a:r>
            <a:r>
              <a:rPr lang="en-US" sz="1800" dirty="0"/>
              <a:t> </a:t>
            </a:r>
          </a:p>
          <a:p>
            <a:pPr indent="0"/>
            <a:endParaRPr lang="ru-RU" sz="2800" b="0" dirty="0"/>
          </a:p>
        </p:txBody>
      </p:sp>
    </p:spTree>
    <p:extLst>
      <p:ext uri="{BB962C8B-B14F-4D97-AF65-F5344CB8AC3E}">
        <p14:creationId xmlns:p14="http://schemas.microsoft.com/office/powerpoint/2010/main" val="987606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973241" y="702273"/>
            <a:ext cx="8295023" cy="54864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 smtClean="0"/>
              <a:t>Aim and objectives</a:t>
            </a:r>
            <a:endParaRPr lang="en-US" sz="400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4494" y="1915983"/>
            <a:ext cx="10826037" cy="440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/>
            <a:r>
              <a:rPr lang="en-US" sz="2800" b="0" dirty="0" smtClean="0"/>
              <a:t>The aim of the work, i.e. the overall purpose of the study. It is what you hope to achieve in the project; should be clearly and concisely defined.</a:t>
            </a:r>
          </a:p>
          <a:p>
            <a:pPr algn="just"/>
            <a:endParaRPr lang="en-US" sz="2800" b="0" dirty="0" smtClean="0"/>
          </a:p>
          <a:p>
            <a:pPr indent="0"/>
            <a:r>
              <a:rPr lang="en-US" sz="2800" b="0" dirty="0" smtClean="0"/>
              <a:t>Objectives are the specific or concrete goals. They are steps or tasks that needed to be taken in order to reach the final aim of the project.</a:t>
            </a:r>
            <a:endParaRPr lang="ru-RU" sz="2800" b="0" dirty="0" smtClean="0"/>
          </a:p>
          <a:p>
            <a:pPr indent="0"/>
            <a:endParaRPr lang="ru-RU" sz="2800" b="0" dirty="0" smtClean="0"/>
          </a:p>
          <a:p>
            <a:pPr lvl="0">
              <a:buClr>
                <a:srgbClr val="000000"/>
              </a:buClr>
              <a:buSzPts val="1400"/>
              <a:defRPr/>
            </a:pPr>
            <a:r>
              <a:rPr lang="en-US" sz="1900" dirty="0">
                <a:solidFill>
                  <a:srgbClr val="C00000"/>
                </a:solidFill>
              </a:rPr>
              <a:t>NB! </a:t>
            </a:r>
          </a:p>
          <a:p>
            <a:pPr lvl="0">
              <a:buClr>
                <a:srgbClr val="000000"/>
              </a:buClr>
              <a:buSzPts val="1400"/>
              <a:defRPr/>
            </a:pPr>
            <a:r>
              <a:rPr lang="en-US" sz="1900" dirty="0">
                <a:solidFill>
                  <a:srgbClr val="C00000"/>
                </a:solidFill>
              </a:rPr>
              <a:t>On the slide ‘Aim’ you are supposed to express </a:t>
            </a:r>
            <a:r>
              <a:rPr lang="en-US" sz="1900" u="sng" dirty="0">
                <a:solidFill>
                  <a:srgbClr val="C00000"/>
                </a:solidFill>
              </a:rPr>
              <a:t>the potential impact of the project</a:t>
            </a:r>
            <a:r>
              <a:rPr lang="en-US" sz="1900" dirty="0">
                <a:solidFill>
                  <a:srgbClr val="C00000"/>
                </a:solidFill>
              </a:rPr>
              <a:t> (this criterion is going to be evaluated by the Reviewers). </a:t>
            </a:r>
            <a:endParaRPr lang="en-US" sz="1900" dirty="0"/>
          </a:p>
          <a:p>
            <a:pPr indent="0"/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3527340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32564" y="1150681"/>
            <a:ext cx="8295023" cy="54864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 smtClean="0"/>
              <a:t>Methods</a:t>
            </a:r>
            <a:endParaRPr lang="en-US" sz="400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4494" y="2444262"/>
            <a:ext cx="10298498" cy="305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algn="just"/>
            <a:r>
              <a:rPr lang="en-US" sz="2800" b="0" dirty="0" smtClean="0"/>
              <a:t>List the methods you’ve used – without much technical detail, but all of them (to show your proficiency)</a:t>
            </a:r>
          </a:p>
          <a:p>
            <a:pPr algn="just"/>
            <a:endParaRPr lang="en-US" i="1" dirty="0" smtClean="0"/>
          </a:p>
          <a:p>
            <a:pPr algn="just"/>
            <a:endParaRPr lang="en-US" i="1" dirty="0" smtClean="0"/>
          </a:p>
          <a:p>
            <a:pPr algn="just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69264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157879" y="1115511"/>
            <a:ext cx="8295023" cy="54864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 smtClean="0"/>
              <a:t>R</a:t>
            </a:r>
            <a:r>
              <a:rPr lang="ru-RU" sz="4000" dirty="0" err="1" smtClean="0"/>
              <a:t>esults</a:t>
            </a:r>
            <a:r>
              <a:rPr lang="ru-RU" sz="4000" dirty="0" smtClean="0"/>
              <a:t> </a:t>
            </a:r>
            <a:endParaRPr lang="en-US" sz="400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09471" y="2153375"/>
            <a:ext cx="10213453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algn="just"/>
            <a:r>
              <a:rPr lang="en-US" sz="2800" b="0" dirty="0" smtClean="0"/>
              <a:t>Primary and processed results of research in the form of graphs, tables, pictures, and charts.</a:t>
            </a:r>
          </a:p>
          <a:p>
            <a:pPr algn="just"/>
            <a:endParaRPr lang="ru-RU" i="1" dirty="0" smtClean="0"/>
          </a:p>
          <a:p>
            <a:pPr algn="just"/>
            <a:r>
              <a:rPr lang="en-US" sz="1800" dirty="0">
                <a:solidFill>
                  <a:srgbClr val="C00000"/>
                </a:solidFill>
              </a:rPr>
              <a:t>NB!</a:t>
            </a:r>
          </a:p>
          <a:p>
            <a:pPr algn="just"/>
            <a:r>
              <a:rPr lang="en-US" sz="1800" dirty="0">
                <a:solidFill>
                  <a:srgbClr val="C00000"/>
                </a:solidFill>
              </a:rPr>
              <a:t>If you introduce a chart or graph you should explain what it shows. The slide should include the graph/chart, a small bit of text is also allowed. </a:t>
            </a:r>
          </a:p>
          <a:p>
            <a:pPr algn="just"/>
            <a:r>
              <a:rPr lang="en-US" sz="1800" dirty="0">
                <a:solidFill>
                  <a:srgbClr val="C00000"/>
                </a:solidFill>
              </a:rPr>
              <a:t>In addition, your explanations accompanying the graph should be presented orally.</a:t>
            </a:r>
          </a:p>
          <a:p>
            <a:pPr algn="just"/>
            <a:endParaRPr lang="en-US" sz="1800" dirty="0" smtClean="0"/>
          </a:p>
          <a:p>
            <a:pPr algn="just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086158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18047" y="1141889"/>
            <a:ext cx="8822131" cy="54864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 smtClean="0"/>
              <a:t>Discussion of results</a:t>
            </a:r>
            <a:endParaRPr lang="en-US" sz="400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18047" y="2487483"/>
            <a:ext cx="10337880" cy="4009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just"/>
            <a:r>
              <a:rPr lang="en-US" sz="2800" b="0" dirty="0" smtClean="0"/>
              <a:t>Comparative critical analysis: what you have deduced from the findings and how these results relate to previous research or other studies.</a:t>
            </a:r>
            <a:endParaRPr lang="ru-RU" sz="2800" b="0" dirty="0" smtClean="0"/>
          </a:p>
          <a:p>
            <a:pPr marL="0" indent="0" algn="just"/>
            <a:endParaRPr lang="ru-RU" sz="2800" b="0" dirty="0" smtClean="0"/>
          </a:p>
          <a:p>
            <a:pPr marL="0" indent="0" algn="just"/>
            <a:r>
              <a:rPr lang="en-US" sz="2800" b="0" dirty="0" smtClean="0"/>
              <a:t>Research </a:t>
            </a:r>
            <a:r>
              <a:rPr lang="en-US" sz="2800" b="0" dirty="0"/>
              <a:t>limitations</a:t>
            </a:r>
          </a:p>
          <a:p>
            <a:pPr marL="0" indent="0" algn="just"/>
            <a:endParaRPr lang="en-US" sz="2800" b="0" dirty="0" smtClean="0"/>
          </a:p>
          <a:p>
            <a:pPr marL="0" indent="0" algn="just"/>
            <a:endParaRPr lang="en-US" sz="2800" b="0" dirty="0" smtClean="0"/>
          </a:p>
          <a:p>
            <a:pPr marL="0" indent="0" algn="just"/>
            <a:r>
              <a:rPr lang="en-US" sz="1800" dirty="0" smtClean="0">
                <a:solidFill>
                  <a:srgbClr val="C00000"/>
                </a:solidFill>
              </a:rPr>
              <a:t>NB!</a:t>
            </a:r>
            <a:r>
              <a:rPr lang="ru-RU" sz="1800" dirty="0" smtClean="0">
                <a:solidFill>
                  <a:srgbClr val="C00000"/>
                </a:solidFill>
              </a:rPr>
              <a:t> </a:t>
            </a:r>
            <a:r>
              <a:rPr lang="en-US" sz="1800" dirty="0" smtClean="0">
                <a:solidFill>
                  <a:srgbClr val="C00000"/>
                </a:solidFill>
              </a:rPr>
              <a:t>Focus </a:t>
            </a:r>
            <a:r>
              <a:rPr lang="en-US" sz="1800" dirty="0">
                <a:solidFill>
                  <a:srgbClr val="C00000"/>
                </a:solidFill>
              </a:rPr>
              <a:t>on your </a:t>
            </a:r>
            <a:r>
              <a:rPr lang="en-US" sz="1800" u="sng" dirty="0">
                <a:solidFill>
                  <a:srgbClr val="C00000"/>
                </a:solidFill>
              </a:rPr>
              <a:t>personal </a:t>
            </a:r>
            <a:r>
              <a:rPr lang="en-US" sz="1800" u="sng" dirty="0" smtClean="0">
                <a:solidFill>
                  <a:srgbClr val="C00000"/>
                </a:solidFill>
              </a:rPr>
              <a:t>contribution</a:t>
            </a:r>
            <a:r>
              <a:rPr lang="ru-RU" sz="1800" u="sng" dirty="0">
                <a:solidFill>
                  <a:srgbClr val="C00000"/>
                </a:solidFill>
              </a:rPr>
              <a:t>.</a:t>
            </a: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388080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18047" y="1141889"/>
            <a:ext cx="8822131" cy="54864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Scientific novelty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18047" y="2487483"/>
            <a:ext cx="10337880" cy="4009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800" dirty="0"/>
              <a:t>State-of-the-art component of your research project.</a:t>
            </a:r>
          </a:p>
          <a:p>
            <a:endParaRPr lang="en-US" sz="2800" dirty="0"/>
          </a:p>
          <a:p>
            <a:pPr algn="just"/>
            <a:r>
              <a:rPr lang="en-US" sz="1800" dirty="0">
                <a:solidFill>
                  <a:srgbClr val="C00000"/>
                </a:solidFill>
              </a:rPr>
              <a:t>NB!</a:t>
            </a:r>
          </a:p>
          <a:p>
            <a:pPr algn="just"/>
            <a:r>
              <a:rPr lang="en-US" sz="1800" dirty="0">
                <a:solidFill>
                  <a:srgbClr val="C00000"/>
                </a:solidFill>
              </a:rPr>
              <a:t>On this slide, you are supposed to highlight how your research project results stand out from similar studies. It can range from the demonstration of a well-established phenomenon in a new system to testing a hypothesis with no precedent in the literature.</a:t>
            </a:r>
          </a:p>
        </p:txBody>
      </p:sp>
    </p:spTree>
    <p:extLst>
      <p:ext uri="{BB962C8B-B14F-4D97-AF65-F5344CB8AC3E}">
        <p14:creationId xmlns:p14="http://schemas.microsoft.com/office/powerpoint/2010/main" val="795383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175465" y="1053965"/>
            <a:ext cx="8295023" cy="54864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 smtClean="0"/>
              <a:t>Innovation</a:t>
            </a:r>
            <a:endParaRPr lang="ru-RU" sz="400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35848" y="2250091"/>
            <a:ext cx="8295023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800" b="0" dirty="0"/>
              <a:t>Innovation component of your research project (if any), i.e</a:t>
            </a:r>
            <a:r>
              <a:rPr lang="en-US" sz="2800" b="0" dirty="0" smtClean="0"/>
              <a:t>.:</a:t>
            </a:r>
          </a:p>
          <a:p>
            <a:endParaRPr lang="en-US" sz="2800" b="0" dirty="0"/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2800" b="0" dirty="0"/>
              <a:t>Start-up potential </a:t>
            </a:r>
            <a:br>
              <a:rPr lang="en-US" sz="2800" b="0" dirty="0"/>
            </a:br>
            <a:r>
              <a:rPr lang="en-US" sz="2800" b="0" dirty="0"/>
              <a:t>or 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2800" b="0" dirty="0"/>
              <a:t>Industrial application of research results</a:t>
            </a:r>
          </a:p>
          <a:p>
            <a:pPr indent="0"/>
            <a:endParaRPr lang="ru-RU" sz="2800" b="0" dirty="0"/>
          </a:p>
        </p:txBody>
      </p:sp>
    </p:spTree>
    <p:extLst>
      <p:ext uri="{BB962C8B-B14F-4D97-AF65-F5344CB8AC3E}">
        <p14:creationId xmlns:p14="http://schemas.microsoft.com/office/powerpoint/2010/main" val="2608183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175465" y="1053965"/>
            <a:ext cx="8295023" cy="54864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 err="1"/>
              <a:t>Conclusion</a:t>
            </a:r>
            <a:r>
              <a:rPr lang="en-US" sz="4000" dirty="0"/>
              <a:t>s</a:t>
            </a:r>
            <a:endParaRPr lang="ru-RU" sz="400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35848" y="2250091"/>
            <a:ext cx="8295023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/>
            <a:r>
              <a:rPr lang="en-US" sz="2800" b="0" dirty="0"/>
              <a:t>Conclusions should summarize the main results of the work and be consistent with the Aim and Objectives!</a:t>
            </a:r>
            <a:endParaRPr lang="ru-RU" sz="2800" b="0" dirty="0"/>
          </a:p>
          <a:p>
            <a:pPr algn="just"/>
            <a:endParaRPr lang="en-US" sz="2800" b="0" dirty="0"/>
          </a:p>
          <a:p>
            <a:pPr indent="0"/>
            <a:endParaRPr lang="ru-RU" sz="2800" b="0" dirty="0"/>
          </a:p>
        </p:txBody>
      </p:sp>
    </p:spTree>
    <p:extLst>
      <p:ext uri="{BB962C8B-B14F-4D97-AF65-F5344CB8AC3E}">
        <p14:creationId xmlns:p14="http://schemas.microsoft.com/office/powerpoint/2010/main" val="1404795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175465" y="1053965"/>
            <a:ext cx="8295023" cy="54864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Outcomes</a:t>
            </a:r>
            <a:endParaRPr lang="ru-RU" sz="400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35848" y="2250091"/>
            <a:ext cx="8295023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800" b="0" dirty="0"/>
              <a:t>Papers</a:t>
            </a:r>
          </a:p>
          <a:p>
            <a:r>
              <a:rPr lang="en-US" sz="2800" b="0" dirty="0"/>
              <a:t>Talks</a:t>
            </a:r>
          </a:p>
          <a:p>
            <a:r>
              <a:rPr lang="en-US" sz="2800" b="0" dirty="0"/>
              <a:t>Conferences</a:t>
            </a:r>
          </a:p>
          <a:p>
            <a:r>
              <a:rPr lang="en-US" sz="2800" b="0" dirty="0"/>
              <a:t>Licenses/patents</a:t>
            </a:r>
          </a:p>
          <a:p>
            <a:r>
              <a:rPr lang="en-US" sz="2800" b="0" dirty="0"/>
              <a:t>Startups, etc.</a:t>
            </a:r>
          </a:p>
          <a:p>
            <a:pPr algn="just"/>
            <a:endParaRPr lang="en-US" sz="2800" b="0" dirty="0"/>
          </a:p>
          <a:p>
            <a:pPr indent="0"/>
            <a:endParaRPr lang="ru-RU" sz="2800" b="0" dirty="0"/>
          </a:p>
        </p:txBody>
      </p:sp>
    </p:spTree>
    <p:extLst>
      <p:ext uri="{BB962C8B-B14F-4D97-AF65-F5344CB8AC3E}">
        <p14:creationId xmlns:p14="http://schemas.microsoft.com/office/powerpoint/2010/main" val="1158397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175465" y="1053965"/>
            <a:ext cx="8295023" cy="54864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Outlook</a:t>
            </a:r>
            <a:endParaRPr lang="ru-RU" sz="400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35848" y="2250091"/>
            <a:ext cx="8295023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82563" indent="0"/>
            <a:r>
              <a:rPr lang="en-US" sz="2800" b="0" dirty="0"/>
              <a:t>What are the future prospects for the project? What results you are planning to achieve in the future.</a:t>
            </a:r>
          </a:p>
          <a:p>
            <a:pPr indent="0"/>
            <a:endParaRPr lang="ru-RU" sz="2800" b="0" dirty="0"/>
          </a:p>
        </p:txBody>
      </p:sp>
    </p:spTree>
    <p:extLst>
      <p:ext uri="{BB962C8B-B14F-4D97-AF65-F5344CB8AC3E}">
        <p14:creationId xmlns:p14="http://schemas.microsoft.com/office/powerpoint/2010/main" val="1158397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982034" y="1097927"/>
            <a:ext cx="8295023" cy="54864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 smtClean="0"/>
              <a:t>Acknowledgements</a:t>
            </a:r>
            <a:endParaRPr lang="en-US" sz="400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533625" y="2408352"/>
            <a:ext cx="8295023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algn="just"/>
            <a:r>
              <a:rPr lang="en-US" sz="2800" b="0" dirty="0" smtClean="0"/>
              <a:t>List of colleagues who considerably contributed in the research.</a:t>
            </a:r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3201367658"/>
      </p:ext>
    </p:extLst>
  </p:cSld>
  <p:clrMapOvr>
    <a:masterClrMapping/>
  </p:clrMapOvr>
</p:sld>
</file>

<file path=ppt/theme/theme1.xml><?xml version="1.0" encoding="utf-8"?>
<a:theme xmlns:a="http://schemas.openxmlformats.org/drawingml/2006/main" name="General slides">
  <a:themeElements>
    <a:clrScheme name="Basic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628</Words>
  <Application>Microsoft Office PowerPoint</Application>
  <PresentationFormat>Widescreen</PresentationFormat>
  <Paragraphs>90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Unicode MS</vt:lpstr>
      <vt:lpstr>Calibri</vt:lpstr>
      <vt:lpstr>General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Daria Tokmeninova</dc:creator>
  <cp:lastModifiedBy>Daria Tokmeninova</cp:lastModifiedBy>
  <cp:revision>24</cp:revision>
  <dcterms:modified xsi:type="dcterms:W3CDTF">2022-02-10T08:06:55Z</dcterms:modified>
</cp:coreProperties>
</file>