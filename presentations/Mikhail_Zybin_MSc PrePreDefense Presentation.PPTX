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F248E49-527C-4B1D-954E-6746358EFA0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area of my research covers 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Today … has been already studied in the field.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6DA9E2B-9B4E-4640-AE8F-6FEFA0BC7788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area of my research covers 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Today … has been already studied in the field.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799AA6C-54E2-431E-AEC7-41FD5E3C69C8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area of my research covers 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Today … has been already studied in the field.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2FD1A1B-1621-45C9-905E-A414B77E9C7F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area of my research covers 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Today … has been already studied in the field.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415C861-5FC6-4084-AC59-E35D7E3142D8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overall purpose of the work is to … 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objectives of the present research run as follows: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1…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2…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3…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E092B87-C1AC-4CCD-B482-61C3C36CFC87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overall purpose of the work is to … 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objectives of the present research run as follows: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1…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2…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3…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5129AF4-B414-4A1D-9D05-04DC1B02922A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All these results suggest that …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We can conclude that … 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Taken together, these results point to three conclusions …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 sum up, … 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Although it is still too early to draw a definite conclusion, it can be stated that … 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Although the obtained data are limited, we may conclude that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2922214-E38A-4322-85FF-C1A1166774FE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achieved results indicate that the work along the same line should proceed. Thus, the long-term results of the project are to …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6ACF979-1DAB-483E-B5D0-92D73B1B0C7D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I would like to express my gratitude to … who &lt;provided smth /assisted in smth/ conducted smth/ etc.&gt;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Thank you for your attention. Now I’m ready to answer your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9A95CEB-EEA5-4643-A83D-F82D3D231D6F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8;p3"/>
          <p:cNvSpPr/>
          <p:nvPr/>
        </p:nvSpPr>
        <p:spPr>
          <a:xfrm>
            <a:off x="0" y="6773040"/>
            <a:ext cx="12188880" cy="8172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" name="Google Shape;23;p3" descr=""/>
          <p:cNvPicPr/>
          <p:nvPr/>
        </p:nvPicPr>
        <p:blipFill>
          <a:blip r:embed="rId2"/>
          <a:stretch/>
        </p:blipFill>
        <p:spPr>
          <a:xfrm rot="16200000">
            <a:off x="-169560" y="5703120"/>
            <a:ext cx="1200960" cy="19872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24;p3"/>
          <p:cNvSpPr/>
          <p:nvPr/>
        </p:nvSpPr>
        <p:spPr>
          <a:xfrm>
            <a:off x="10194480" y="-1997280"/>
            <a:ext cx="3991680" cy="399168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8;p3"/>
          <p:cNvSpPr/>
          <p:nvPr/>
        </p:nvSpPr>
        <p:spPr>
          <a:xfrm>
            <a:off x="0" y="6773040"/>
            <a:ext cx="12188880" cy="8172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2" name="Google Shape;23;p3" descr=""/>
          <p:cNvPicPr/>
          <p:nvPr/>
        </p:nvPicPr>
        <p:blipFill>
          <a:blip r:embed="rId2"/>
          <a:stretch/>
        </p:blipFill>
        <p:spPr>
          <a:xfrm rot="16200000">
            <a:off x="-169560" y="5703120"/>
            <a:ext cx="1200960" cy="198720"/>
          </a:xfrm>
          <a:prstGeom prst="rect">
            <a:avLst/>
          </a:prstGeom>
          <a:ln w="0">
            <a:noFill/>
          </a:ln>
        </p:spPr>
      </p:pic>
      <p:sp>
        <p:nvSpPr>
          <p:cNvPr id="43" name="Google Shape;24;p3"/>
          <p:cNvSpPr/>
          <p:nvPr/>
        </p:nvSpPr>
        <p:spPr>
          <a:xfrm>
            <a:off x="10194480" y="-1997280"/>
            <a:ext cx="3991680" cy="399168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18;p3"/>
          <p:cNvSpPr/>
          <p:nvPr/>
        </p:nvSpPr>
        <p:spPr>
          <a:xfrm>
            <a:off x="0" y="6773040"/>
            <a:ext cx="12188880" cy="8172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3" name="Google Shape;23;p3" descr=""/>
          <p:cNvPicPr/>
          <p:nvPr/>
        </p:nvPicPr>
        <p:blipFill>
          <a:blip r:embed="rId2"/>
          <a:stretch/>
        </p:blipFill>
        <p:spPr>
          <a:xfrm rot="16200000">
            <a:off x="-169560" y="5703120"/>
            <a:ext cx="1200960" cy="198720"/>
          </a:xfrm>
          <a:prstGeom prst="rect">
            <a:avLst/>
          </a:prstGeom>
          <a:ln w="0">
            <a:noFill/>
          </a:ln>
        </p:spPr>
      </p:pic>
      <p:sp>
        <p:nvSpPr>
          <p:cNvPr id="84" name="Google Shape;24;p3"/>
          <p:cNvSpPr/>
          <p:nvPr/>
        </p:nvSpPr>
        <p:spPr>
          <a:xfrm>
            <a:off x="10194480" y="-1997280"/>
            <a:ext cx="3991680" cy="399168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8;p3"/>
          <p:cNvSpPr/>
          <p:nvPr/>
        </p:nvSpPr>
        <p:spPr>
          <a:xfrm>
            <a:off x="0" y="6773040"/>
            <a:ext cx="12188880" cy="8172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4" name="Google Shape;23;p3" descr=""/>
          <p:cNvPicPr/>
          <p:nvPr/>
        </p:nvPicPr>
        <p:blipFill>
          <a:blip r:embed="rId2"/>
          <a:stretch/>
        </p:blipFill>
        <p:spPr>
          <a:xfrm rot="16200000">
            <a:off x="-169560" y="5703120"/>
            <a:ext cx="1200960" cy="198720"/>
          </a:xfrm>
          <a:prstGeom prst="rect">
            <a:avLst/>
          </a:prstGeom>
          <a:ln w="0">
            <a:noFill/>
          </a:ln>
        </p:spPr>
      </p:pic>
      <p:sp>
        <p:nvSpPr>
          <p:cNvPr id="125" name="Google Shape;24;p3"/>
          <p:cNvSpPr/>
          <p:nvPr/>
        </p:nvSpPr>
        <p:spPr>
          <a:xfrm>
            <a:off x="10194480" y="-1997280"/>
            <a:ext cx="3991680" cy="399168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8;p3"/>
          <p:cNvSpPr/>
          <p:nvPr/>
        </p:nvSpPr>
        <p:spPr>
          <a:xfrm>
            <a:off x="0" y="6773040"/>
            <a:ext cx="12188880" cy="8172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5" name="Google Shape;23;p3" descr=""/>
          <p:cNvPicPr/>
          <p:nvPr/>
        </p:nvPicPr>
        <p:blipFill>
          <a:blip r:embed="rId2"/>
          <a:stretch/>
        </p:blipFill>
        <p:spPr>
          <a:xfrm rot="16200000">
            <a:off x="-169560" y="5703120"/>
            <a:ext cx="1200960" cy="198720"/>
          </a:xfrm>
          <a:prstGeom prst="rect">
            <a:avLst/>
          </a:prstGeom>
          <a:ln w="0">
            <a:noFill/>
          </a:ln>
        </p:spPr>
      </p:pic>
      <p:sp>
        <p:nvSpPr>
          <p:cNvPr id="166" name="Google Shape;24;p3"/>
          <p:cNvSpPr/>
          <p:nvPr/>
        </p:nvSpPr>
        <p:spPr>
          <a:xfrm>
            <a:off x="10194480" y="-1997280"/>
            <a:ext cx="3991680" cy="399168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5"/>
          <p:cNvSpPr/>
          <p:nvPr/>
        </p:nvSpPr>
        <p:spPr>
          <a:xfrm>
            <a:off x="7534080" y="907560"/>
            <a:ext cx="2490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Data Science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2" name="Content Placeholder 2"/>
          <p:cNvSpPr/>
          <p:nvPr/>
        </p:nvSpPr>
        <p:spPr>
          <a:xfrm>
            <a:off x="3696120" y="3528360"/>
            <a:ext cx="6397560" cy="12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Student: </a:t>
            </a:r>
            <a:r>
              <a:rPr b="0" i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Mikhail Zybin</a:t>
            </a:r>
            <a:endParaRPr b="0" lang="en-US" sz="2000" spc="-1" strike="noStrike">
              <a:latin typeface="Arial"/>
            </a:endParaRPr>
          </a:p>
          <a:p>
            <a:pPr marL="457200" indent="-228600" algn="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Research Advisor: </a:t>
            </a:r>
            <a:r>
              <a:rPr b="0" i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Philipp Khaitovich</a:t>
            </a:r>
            <a:endParaRPr b="0" lang="en-US" sz="2000" spc="-1" strike="noStrike">
              <a:latin typeface="Arial"/>
            </a:endParaRPr>
          </a:p>
          <a:p>
            <a:pPr marL="457200" indent="-228600" algn="r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</p:txBody>
      </p:sp>
      <p:sp>
        <p:nvSpPr>
          <p:cNvPr id="213" name="Subtitle 1"/>
          <p:cNvSpPr/>
          <p:nvPr/>
        </p:nvSpPr>
        <p:spPr>
          <a:xfrm>
            <a:off x="3204720" y="5938200"/>
            <a:ext cx="639756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50000"/>
          </a:bodyPr>
          <a:p>
            <a:pPr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595959"/>
                </a:solidFill>
                <a:latin typeface="Arial Unicode MS"/>
                <a:ea typeface="DejaVu Sans"/>
              </a:rPr>
              <a:t>Jaunary, 2023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214" name="Slide Number Placeholder 3"/>
          <p:cNvSpPr/>
          <p:nvPr/>
        </p:nvSpPr>
        <p:spPr>
          <a:xfrm>
            <a:off x="10300680" y="6278040"/>
            <a:ext cx="188820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Slides should be numbered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5" name="TextBox 1"/>
          <p:cNvSpPr/>
          <p:nvPr/>
        </p:nvSpPr>
        <p:spPr>
          <a:xfrm>
            <a:off x="8022960" y="158400"/>
            <a:ext cx="37821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Приложение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4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/ Appendix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-652680" y="1600200"/>
            <a:ext cx="13451760" cy="232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575"/>
              </a:spcBef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Gene Expression and Lipid Composition of the Postmortem Brains of Patients with Schizophrenia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itle 1"/>
          <p:cNvSpPr/>
          <p:nvPr/>
        </p:nvSpPr>
        <p:spPr>
          <a:xfrm>
            <a:off x="844200" y="781560"/>
            <a:ext cx="1057392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General problem / Introduction / </a:t>
            </a:r>
            <a:endParaRPr b="0" lang="en-US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Background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18" name="Content Placeholder 2"/>
          <p:cNvSpPr/>
          <p:nvPr/>
        </p:nvSpPr>
        <p:spPr>
          <a:xfrm>
            <a:off x="463320" y="2863800"/>
            <a:ext cx="9891000" cy="28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psychiatric disorder with a convoluted etiology and a lifetime prevalence of 0.84%. 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an interplay between genetic, epigenetic, and environmental risk factors is involved in SZ etiology.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symptoms of SZ: positive, negative, and cognitive symptoms.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itle 13"/>
          <p:cNvSpPr/>
          <p:nvPr/>
        </p:nvSpPr>
        <p:spPr>
          <a:xfrm>
            <a:off x="844200" y="781560"/>
            <a:ext cx="1057392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General problem / Introduction / </a:t>
            </a:r>
            <a:endParaRPr b="0" lang="en-US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Background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20" name="Content Placeholder 14"/>
          <p:cNvSpPr/>
          <p:nvPr/>
        </p:nvSpPr>
        <p:spPr>
          <a:xfrm>
            <a:off x="463320" y="2863800"/>
            <a:ext cx="9891000" cy="28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The positive symptoms 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delusions and hallucinations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the negative symptoms are 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a loss of typical affective functions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and the most prominent cognitive symptoms of SZ are deﬁcits in attention and executive functioning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itle 8"/>
          <p:cNvSpPr/>
          <p:nvPr/>
        </p:nvSpPr>
        <p:spPr>
          <a:xfrm>
            <a:off x="844200" y="781560"/>
            <a:ext cx="1057392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General problem / Introduction / </a:t>
            </a:r>
            <a:endParaRPr b="0" lang="en-US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Background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22" name="Content Placeholder 9"/>
          <p:cNvSpPr/>
          <p:nvPr/>
        </p:nvSpPr>
        <p:spPr>
          <a:xfrm>
            <a:off x="463320" y="2863800"/>
            <a:ext cx="9891000" cy="28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Molecular mechanisms of schizophrenia are still poorly inderstood.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For the sake of simplicity let us not go into details on what lipids are. This is a specific broad class of molecules.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Genes: structural and functional units of DNA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Expression – reading the information from the gene and building a corresponding protein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We can measure it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Different brain regions have different sets of functions and processes</a:t>
            </a: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itle 6"/>
          <p:cNvSpPr/>
          <p:nvPr/>
        </p:nvSpPr>
        <p:spPr>
          <a:xfrm>
            <a:off x="844200" y="781560"/>
            <a:ext cx="1057392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General problem / Introduction / </a:t>
            </a:r>
            <a:endParaRPr b="0" lang="en-US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Background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24" name="Content Placeholder 7"/>
          <p:cNvSpPr/>
          <p:nvPr/>
        </p:nvSpPr>
        <p:spPr>
          <a:xfrm>
            <a:off x="463320" y="2863800"/>
            <a:ext cx="9891000" cy="28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There is no exact detailed picture about what is happening on a molecular level in various brain regions of people with SZ</a:t>
            </a: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itle 5"/>
          <p:cNvSpPr/>
          <p:nvPr/>
        </p:nvSpPr>
        <p:spPr>
          <a:xfrm>
            <a:off x="973080" y="70236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Aim and objectives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26" name="Content Placeholder 6"/>
          <p:cNvSpPr/>
          <p:nvPr/>
        </p:nvSpPr>
        <p:spPr>
          <a:xfrm>
            <a:off x="454320" y="1915920"/>
            <a:ext cx="10822680" cy="439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The goal of this research is to find out what genes, what lipids in what brain regions are connected to schizophrenia. </a:t>
            </a: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identify the most relevant regions, genes and lipids from the available data, so </a:t>
            </a: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potential future experiments on molecular mechanisms of SZ would be able to rely only on a small subset of regions, genes and lipids. </a:t>
            </a: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We want to see whether certain genes or lipids contain most of the necessary signal that distinguishes healthy brains from SZ brains.</a:t>
            </a: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1"/>
          <p:cNvSpPr/>
          <p:nvPr/>
        </p:nvSpPr>
        <p:spPr>
          <a:xfrm>
            <a:off x="973080" y="70236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Aim and objectives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28" name="Content Placeholder 2"/>
          <p:cNvSpPr/>
          <p:nvPr/>
        </p:nvSpPr>
        <p:spPr>
          <a:xfrm>
            <a:off x="454320" y="1915920"/>
            <a:ext cx="10822680" cy="439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Help for the possible experiments in the future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more people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small subset of relevant brain regions, lipids and genes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itle 1"/>
          <p:cNvSpPr/>
          <p:nvPr/>
        </p:nvSpPr>
        <p:spPr>
          <a:xfrm>
            <a:off x="832680" y="115056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30" name="Content Placeholder 2"/>
          <p:cNvSpPr/>
          <p:nvPr/>
        </p:nvSpPr>
        <p:spPr>
          <a:xfrm>
            <a:off x="454320" y="2444400"/>
            <a:ext cx="10295280" cy="30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the number of subjects (people) in significantly smaller than the number of features (gene expressions and lipid levels), 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dimensionality reduction methods such as PCA and tSNE. 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feature extraction and visualization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finding of “support” genes with which most other genes are correlated</a:t>
            </a: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itle 2"/>
          <p:cNvSpPr/>
          <p:nvPr/>
        </p:nvSpPr>
        <p:spPr>
          <a:xfrm>
            <a:off x="832680" y="115056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32" name="Content Placeholder 3"/>
          <p:cNvSpPr/>
          <p:nvPr/>
        </p:nvSpPr>
        <p:spPr>
          <a:xfrm>
            <a:off x="454320" y="2444400"/>
            <a:ext cx="10295280" cy="30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each region and each gene: 4 healthy data points and 4 SZ points (same for lipids) 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points as coming from some probability distributions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what useful estimates of these distributions can be made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normal distribution by mean and variance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discrete uniform distribution over given points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data augmentation by creating synthetically generated data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data augmentation gives an opportunity of ML</a:t>
            </a: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itle 4"/>
          <p:cNvSpPr/>
          <p:nvPr/>
        </p:nvSpPr>
        <p:spPr>
          <a:xfrm>
            <a:off x="832680" y="115056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34" name="Content Placeholder 5"/>
          <p:cNvSpPr/>
          <p:nvPr/>
        </p:nvSpPr>
        <p:spPr>
          <a:xfrm>
            <a:off x="454320" y="2444400"/>
            <a:ext cx="10295280" cy="30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Batch-effect removal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Check various normalization methods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itle 3"/>
          <p:cNvSpPr/>
          <p:nvPr/>
        </p:nvSpPr>
        <p:spPr>
          <a:xfrm>
            <a:off x="832680" y="115056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36" name="Content Placeholder 4"/>
          <p:cNvSpPr/>
          <p:nvPr/>
        </p:nvSpPr>
        <p:spPr>
          <a:xfrm>
            <a:off x="454320" y="2444400"/>
            <a:ext cx="10295280" cy="30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statistical tests (Mann-Whitney, Student’s T-test, Welch’s t-test, Kruskal–Wallis test, Dunn's test, Conover–Iman test...)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methods for multiple testing correction (Bonferroni...)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Genes identified in this manner will be analyzed using Gene Ontology enrichment software. Functional annotation of lipids will also be needed</a:t>
            </a: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itle 12"/>
          <p:cNvSpPr/>
          <p:nvPr/>
        </p:nvSpPr>
        <p:spPr>
          <a:xfrm>
            <a:off x="832680" y="115056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38" name="Content Placeholder 13"/>
          <p:cNvSpPr/>
          <p:nvPr/>
        </p:nvSpPr>
        <p:spPr>
          <a:xfrm>
            <a:off x="454320" y="2444400"/>
            <a:ext cx="10295280" cy="30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Genes identified in this manner will be analyzed using Gene Ontology enrichment software. Functional annotation of lipids will also be needed using databases such as SwissLipids 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a set of genes that are up-regulated under certain conditions → which metabolic paths or biological functions are over-represented (or under-represented) there</a:t>
            </a: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itle 1"/>
          <p:cNvSpPr/>
          <p:nvPr/>
        </p:nvSpPr>
        <p:spPr>
          <a:xfrm>
            <a:off x="1157760" y="111564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</a:t>
            </a:r>
            <a:r>
              <a:rPr b="0" lang="ru-RU" sz="4000" spc="-1" strike="noStrike">
                <a:solidFill>
                  <a:srgbClr val="000000"/>
                </a:solidFill>
                <a:latin typeface="Arial"/>
                <a:ea typeface="Arial"/>
              </a:rPr>
              <a:t>esults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40" name="Content Placeholder 2"/>
          <p:cNvSpPr/>
          <p:nvPr/>
        </p:nvSpPr>
        <p:spPr>
          <a:xfrm>
            <a:off x="709560" y="2153520"/>
            <a:ext cx="10210320" cy="35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41" name="" descr=""/>
          <p:cNvPicPr/>
          <p:nvPr/>
        </p:nvPicPr>
        <p:blipFill>
          <a:blip r:embed="rId1"/>
          <a:stretch/>
        </p:blipFill>
        <p:spPr>
          <a:xfrm>
            <a:off x="223200" y="1828800"/>
            <a:ext cx="6176880" cy="4627080"/>
          </a:xfrm>
          <a:prstGeom prst="rect">
            <a:avLst/>
          </a:prstGeom>
          <a:ln w="0">
            <a:noFill/>
          </a:ln>
        </p:spPr>
      </p:pic>
      <p:sp>
        <p:nvSpPr>
          <p:cNvPr id="242" name=""/>
          <p:cNvSpPr/>
          <p:nvPr/>
        </p:nvSpPr>
        <p:spPr>
          <a:xfrm>
            <a:off x="7315200" y="2057400"/>
            <a:ext cx="3937680" cy="32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Every region of every brain (4 healthy people, 4 SZ, 35 regions)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Squares – SZ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Hexagons - healthy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itle 11"/>
          <p:cNvSpPr/>
          <p:nvPr/>
        </p:nvSpPr>
        <p:spPr>
          <a:xfrm>
            <a:off x="1157760" y="111564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</a:t>
            </a:r>
            <a:r>
              <a:rPr b="0" lang="ru-RU" sz="4000" spc="-1" strike="noStrike">
                <a:solidFill>
                  <a:srgbClr val="000000"/>
                </a:solidFill>
                <a:latin typeface="Arial"/>
                <a:ea typeface="Arial"/>
              </a:rPr>
              <a:t>esults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44" name="Content Placeholder 12"/>
          <p:cNvSpPr/>
          <p:nvPr/>
        </p:nvSpPr>
        <p:spPr>
          <a:xfrm>
            <a:off x="709560" y="2153520"/>
            <a:ext cx="10210320" cy="35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"/>
          <p:cNvSpPr/>
          <p:nvPr/>
        </p:nvSpPr>
        <p:spPr>
          <a:xfrm>
            <a:off x="914400" y="2057400"/>
            <a:ext cx="1020024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Equal variance assumtion does not hold (more variance within SZ specimens)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For each region we have identified genes that are significantly more expressed and statistically less expressed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Two-stage Benjamini/Hochberg method (controlling FDR)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9914 7 – batch effect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itle 14"/>
          <p:cNvSpPr/>
          <p:nvPr/>
        </p:nvSpPr>
        <p:spPr>
          <a:xfrm>
            <a:off x="1157760" y="111564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</a:t>
            </a:r>
            <a:r>
              <a:rPr b="0" lang="ru-RU" sz="4000" spc="-1" strike="noStrike">
                <a:solidFill>
                  <a:srgbClr val="000000"/>
                </a:solidFill>
                <a:latin typeface="Arial"/>
                <a:ea typeface="Arial"/>
              </a:rPr>
              <a:t>esults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47" name="Content Placeholder 15"/>
          <p:cNvSpPr/>
          <p:nvPr/>
        </p:nvSpPr>
        <p:spPr>
          <a:xfrm>
            <a:off x="709560" y="2153520"/>
            <a:ext cx="10210320" cy="35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48" name="" descr=""/>
          <p:cNvPicPr/>
          <p:nvPr/>
        </p:nvPicPr>
        <p:blipFill>
          <a:blip r:embed="rId1"/>
          <a:stretch/>
        </p:blipFill>
        <p:spPr>
          <a:xfrm>
            <a:off x="1828800" y="2654640"/>
            <a:ext cx="7580520" cy="3516840"/>
          </a:xfrm>
          <a:prstGeom prst="rect">
            <a:avLst/>
          </a:prstGeom>
          <a:ln w="0">
            <a:noFill/>
          </a:ln>
        </p:spPr>
      </p:pic>
      <p:sp>
        <p:nvSpPr>
          <p:cNvPr id="249" name=""/>
          <p:cNvSpPr/>
          <p:nvPr/>
        </p:nvSpPr>
        <p:spPr>
          <a:xfrm>
            <a:off x="1371600" y="2057400"/>
            <a:ext cx="1020024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Example GO output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itle 9"/>
          <p:cNvSpPr/>
          <p:nvPr/>
        </p:nvSpPr>
        <p:spPr>
          <a:xfrm>
            <a:off x="1157760" y="111564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</a:t>
            </a:r>
            <a:r>
              <a:rPr b="0" lang="ru-RU" sz="4000" spc="-1" strike="noStrike">
                <a:solidFill>
                  <a:srgbClr val="000000"/>
                </a:solidFill>
                <a:latin typeface="Arial"/>
                <a:ea typeface="Arial"/>
              </a:rPr>
              <a:t>esults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51" name="Content Placeholder 10"/>
          <p:cNvSpPr/>
          <p:nvPr/>
        </p:nvSpPr>
        <p:spPr>
          <a:xfrm>
            <a:off x="709560" y="2153520"/>
            <a:ext cx="10210320" cy="35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Can brain region be a label?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Random Forest Classification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Accuracy just 0.26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So, no point in region prediction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itle 1"/>
          <p:cNvSpPr/>
          <p:nvPr/>
        </p:nvSpPr>
        <p:spPr>
          <a:xfrm>
            <a:off x="718200" y="1141920"/>
            <a:ext cx="88189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Discussion of results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53" name="Content Placeholder 2"/>
          <p:cNvSpPr/>
          <p:nvPr/>
        </p:nvSpPr>
        <p:spPr>
          <a:xfrm>
            <a:off x="718200" y="2487600"/>
            <a:ext cx="10334520" cy="40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Small number of samples and big number of features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Need to be careful with multiple testing correction (might be hard to reach statistical significance)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Unable to apply healthy/SZ classification directly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itle 7"/>
          <p:cNvSpPr/>
          <p:nvPr/>
        </p:nvSpPr>
        <p:spPr>
          <a:xfrm>
            <a:off x="718200" y="1141920"/>
            <a:ext cx="88189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Discussion of results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55" name="Content Placeholder 8"/>
          <p:cNvSpPr/>
          <p:nvPr/>
        </p:nvSpPr>
        <p:spPr>
          <a:xfrm>
            <a:off x="718200" y="2487600"/>
            <a:ext cx="10334520" cy="40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Linear separability shows that there is a meaningful signal in the data, although it might be due to batch effect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itle 15"/>
          <p:cNvSpPr/>
          <p:nvPr/>
        </p:nvSpPr>
        <p:spPr>
          <a:xfrm>
            <a:off x="718200" y="1141920"/>
            <a:ext cx="88189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Discussion of results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57" name="Content Placeholder 16"/>
          <p:cNvSpPr/>
          <p:nvPr/>
        </p:nvSpPr>
        <p:spPr>
          <a:xfrm>
            <a:off x="718200" y="2487600"/>
            <a:ext cx="10334520" cy="40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more research is needed on what stattests are most applicable here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/>
          <p:nvPr/>
        </p:nvSpPr>
        <p:spPr>
          <a:xfrm>
            <a:off x="718200" y="1141920"/>
            <a:ext cx="88189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Scientific novelty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59" name="Content Placeholder 2"/>
          <p:cNvSpPr/>
          <p:nvPr/>
        </p:nvSpPr>
        <p:spPr>
          <a:xfrm>
            <a:off x="718200" y="2487600"/>
            <a:ext cx="10334520" cy="40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Best research on the same topic</a:t>
            </a: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- 5 regions (Entorhinal cortex, prefrontal cortex, amygdala, corpus callosum, hippocampus)</a:t>
            </a: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only Fatty Acids</a:t>
            </a: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questionable usage of multiple testing correction</a:t>
            </a: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good source of hypotheses for us to verify</a:t>
            </a: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we have more brain regions, more lipid classes, and gene expression</a:t>
            </a: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can combine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itle 1"/>
          <p:cNvSpPr/>
          <p:nvPr/>
        </p:nvSpPr>
        <p:spPr>
          <a:xfrm>
            <a:off x="1175400" y="105408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4000" spc="-1" strike="noStrike">
                <a:solidFill>
                  <a:srgbClr val="000000"/>
                </a:solidFill>
                <a:latin typeface="Arial"/>
                <a:ea typeface="Arial"/>
              </a:rPr>
              <a:t>Conclusion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61" name="Content Placeholder 2"/>
          <p:cNvSpPr/>
          <p:nvPr/>
        </p:nvSpPr>
        <p:spPr>
          <a:xfrm>
            <a:off x="735840" y="2250000"/>
            <a:ext cx="8291880" cy="35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Brains of healthy people and people with SZ have different lipid composition and gene expression, which is possible to notice and measure using statistical tools.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itle 1"/>
          <p:cNvSpPr/>
          <p:nvPr/>
        </p:nvSpPr>
        <p:spPr>
          <a:xfrm>
            <a:off x="1175400" y="105408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Outlook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63" name="Content Placeholder 2"/>
          <p:cNvSpPr/>
          <p:nvPr/>
        </p:nvSpPr>
        <p:spPr>
          <a:xfrm>
            <a:off x="735840" y="2250000"/>
            <a:ext cx="8291880" cy="35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825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We are planning to write a paper about this topic and share our insights with the research centers that are doing the actual experiments.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1"/>
          <p:cNvSpPr/>
          <p:nvPr/>
        </p:nvSpPr>
        <p:spPr>
          <a:xfrm>
            <a:off x="982080" y="1098000"/>
            <a:ext cx="82918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Acknowledgements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65" name="Content Placeholder 2"/>
          <p:cNvSpPr/>
          <p:nvPr/>
        </p:nvSpPr>
        <p:spPr>
          <a:xfrm>
            <a:off x="533520" y="2408400"/>
            <a:ext cx="8291880" cy="35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Maria Osetrova, PhD student at Skoltech Center of Life Sciences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Provided the dataset and explanation of its file structure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1828</TotalTime>
  <Application>LibreOffice/7.3.7.2$Linux_X86_64 LibreOffice_project/30$Build-2</Application>
  <AppVersion>15.0000</AppVersion>
  <Words>628</Words>
  <Paragraphs>90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Daria Tokmeninova</dc:creator>
  <dc:description/>
  <dc:language>en-US</dc:language>
  <cp:lastModifiedBy/>
  <dcterms:modified xsi:type="dcterms:W3CDTF">2023-01-26T13:32:52Z</dcterms:modified>
  <cp:revision>38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Widescreen</vt:lpwstr>
  </property>
  <property fmtid="{D5CDD505-2E9C-101B-9397-08002B2CF9AE}" pid="4" name="Slides">
    <vt:i4>12</vt:i4>
  </property>
</Properties>
</file>