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_rels/notesSlide1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4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5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5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40E7E62-0F75-42C1-8F6F-605DA5C096AD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area of my research covers …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Today … has been already studied in the field.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26FDB8B-7E8B-4152-BEA9-291B7AE6A2C5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area of my research covers …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Today … has been already studied in the field.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9F867E3-C9D1-40AD-9B14-72DAEC4A656B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area of my research covers …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Today … has been already studied in the field.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C0B68E4-FBC2-488B-9995-0722034EF03E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area of my research covers …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Today … has been already studied in the field.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C3B4BB3-3CD8-4758-901F-9D927554C880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overall purpose of the work is to …  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objectives of the present research run as follows: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1… 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2… 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3…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137F69B-27C1-4C4E-89A1-F0F3F3AFB2A8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overall purpose of the work is to …  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objectives of the present research run as follows: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1… 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2… 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3…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1D780E3-E951-40DE-91BE-CA7000B5B1FF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7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3999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All these results suggest that …</a:t>
            </a:r>
            <a:endParaRPr b="0" lang="en-US" sz="1200" spc="-1" strike="noStrike">
              <a:latin typeface="Arial"/>
            </a:endParaRPr>
          </a:p>
          <a:p>
            <a:pPr marL="3999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We can conclude that … </a:t>
            </a:r>
            <a:endParaRPr b="0" lang="en-US" sz="1200" spc="-1" strike="noStrike">
              <a:latin typeface="Arial"/>
            </a:endParaRPr>
          </a:p>
          <a:p>
            <a:pPr marL="3999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Taken together, these results point to three conclusions …</a:t>
            </a:r>
            <a:endParaRPr b="0" lang="en-US" sz="1200" spc="-1" strike="noStrike">
              <a:latin typeface="Arial"/>
            </a:endParaRPr>
          </a:p>
          <a:p>
            <a:pPr marL="3999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To sum up, … </a:t>
            </a:r>
            <a:endParaRPr b="0" lang="en-US" sz="1200" spc="-1" strike="noStrike">
              <a:latin typeface="Arial"/>
            </a:endParaRPr>
          </a:p>
          <a:p>
            <a:pPr marL="3999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Although it is still too early to draw a definite conclusion, it can be stated that … </a:t>
            </a:r>
            <a:endParaRPr b="0" lang="en-US" sz="1200" spc="-1" strike="noStrike">
              <a:latin typeface="Arial"/>
            </a:endParaRPr>
          </a:p>
          <a:p>
            <a:pPr marL="3999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Although the obtained data are limited, we may conclude that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A162D40-3336-47AD-AD60-B3ED2CEB9DE6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achieved results indicate that the work along the same line should proceed. Thus, the long-term results of the project are to …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979C4FC-1E1A-4188-83D2-007B95E23881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I would like to express my gratitude to … who &lt;provided smth /assisted in smth/ conducted smth/ etc.&gt;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Thank you for your attention. Now I’m ready to answer your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DF25D93-F9A8-401C-8B54-B9B36C0025DF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4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8;p3"/>
          <p:cNvSpPr/>
          <p:nvPr/>
        </p:nvSpPr>
        <p:spPr>
          <a:xfrm>
            <a:off x="0" y="6773040"/>
            <a:ext cx="12188160" cy="810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" name="Google Shape;23;p3" descr=""/>
          <p:cNvPicPr/>
          <p:nvPr/>
        </p:nvPicPr>
        <p:blipFill>
          <a:blip r:embed="rId2"/>
          <a:stretch/>
        </p:blipFill>
        <p:spPr>
          <a:xfrm rot="16200000">
            <a:off x="-168840" y="5703840"/>
            <a:ext cx="1200240" cy="198000"/>
          </a:xfrm>
          <a:prstGeom prst="rect">
            <a:avLst/>
          </a:prstGeom>
          <a:ln w="0">
            <a:noFill/>
          </a:ln>
        </p:spPr>
      </p:pic>
      <p:sp>
        <p:nvSpPr>
          <p:cNvPr id="2" name="Google Shape;24;p3"/>
          <p:cNvSpPr/>
          <p:nvPr/>
        </p:nvSpPr>
        <p:spPr>
          <a:xfrm>
            <a:off x="10194480" y="-1997280"/>
            <a:ext cx="3990960" cy="39909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8;p3"/>
          <p:cNvSpPr/>
          <p:nvPr/>
        </p:nvSpPr>
        <p:spPr>
          <a:xfrm>
            <a:off x="0" y="6773040"/>
            <a:ext cx="12188160" cy="810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2" name="Google Shape;23;p3" descr=""/>
          <p:cNvPicPr/>
          <p:nvPr/>
        </p:nvPicPr>
        <p:blipFill>
          <a:blip r:embed="rId2"/>
          <a:stretch/>
        </p:blipFill>
        <p:spPr>
          <a:xfrm rot="16200000">
            <a:off x="-168840" y="5703840"/>
            <a:ext cx="1200240" cy="198000"/>
          </a:xfrm>
          <a:prstGeom prst="rect">
            <a:avLst/>
          </a:prstGeom>
          <a:ln w="0">
            <a:noFill/>
          </a:ln>
        </p:spPr>
      </p:pic>
      <p:sp>
        <p:nvSpPr>
          <p:cNvPr id="43" name="Google Shape;24;p3"/>
          <p:cNvSpPr/>
          <p:nvPr/>
        </p:nvSpPr>
        <p:spPr>
          <a:xfrm>
            <a:off x="10194480" y="-1997280"/>
            <a:ext cx="3990960" cy="39909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18;p3"/>
          <p:cNvSpPr/>
          <p:nvPr/>
        </p:nvSpPr>
        <p:spPr>
          <a:xfrm>
            <a:off x="0" y="6773040"/>
            <a:ext cx="12188160" cy="810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3" name="Google Shape;23;p3" descr=""/>
          <p:cNvPicPr/>
          <p:nvPr/>
        </p:nvPicPr>
        <p:blipFill>
          <a:blip r:embed="rId2"/>
          <a:stretch/>
        </p:blipFill>
        <p:spPr>
          <a:xfrm rot="16200000">
            <a:off x="-168840" y="5703840"/>
            <a:ext cx="1200240" cy="198000"/>
          </a:xfrm>
          <a:prstGeom prst="rect">
            <a:avLst/>
          </a:prstGeom>
          <a:ln w="0">
            <a:noFill/>
          </a:ln>
        </p:spPr>
      </p:pic>
      <p:sp>
        <p:nvSpPr>
          <p:cNvPr id="84" name="Google Shape;24;p3"/>
          <p:cNvSpPr/>
          <p:nvPr/>
        </p:nvSpPr>
        <p:spPr>
          <a:xfrm>
            <a:off x="10194480" y="-1997280"/>
            <a:ext cx="3990960" cy="39909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8;p3"/>
          <p:cNvSpPr/>
          <p:nvPr/>
        </p:nvSpPr>
        <p:spPr>
          <a:xfrm>
            <a:off x="0" y="6773040"/>
            <a:ext cx="12188160" cy="810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4" name="Google Shape;23;p3" descr=""/>
          <p:cNvPicPr/>
          <p:nvPr/>
        </p:nvPicPr>
        <p:blipFill>
          <a:blip r:embed="rId2"/>
          <a:stretch/>
        </p:blipFill>
        <p:spPr>
          <a:xfrm rot="16200000">
            <a:off x="-168840" y="5703840"/>
            <a:ext cx="1200240" cy="198000"/>
          </a:xfrm>
          <a:prstGeom prst="rect">
            <a:avLst/>
          </a:prstGeom>
          <a:ln w="0">
            <a:noFill/>
          </a:ln>
        </p:spPr>
      </p:pic>
      <p:sp>
        <p:nvSpPr>
          <p:cNvPr id="125" name="Google Shape;24;p3"/>
          <p:cNvSpPr/>
          <p:nvPr/>
        </p:nvSpPr>
        <p:spPr>
          <a:xfrm>
            <a:off x="10194480" y="-1997280"/>
            <a:ext cx="3990960" cy="39909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8;p3"/>
          <p:cNvSpPr/>
          <p:nvPr/>
        </p:nvSpPr>
        <p:spPr>
          <a:xfrm>
            <a:off x="0" y="6773040"/>
            <a:ext cx="12188160" cy="810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5" name="Google Shape;23;p3" descr=""/>
          <p:cNvPicPr/>
          <p:nvPr/>
        </p:nvPicPr>
        <p:blipFill>
          <a:blip r:embed="rId2"/>
          <a:stretch/>
        </p:blipFill>
        <p:spPr>
          <a:xfrm rot="16200000">
            <a:off x="-168840" y="5703840"/>
            <a:ext cx="1200240" cy="198000"/>
          </a:xfrm>
          <a:prstGeom prst="rect">
            <a:avLst/>
          </a:prstGeom>
          <a:ln w="0">
            <a:noFill/>
          </a:ln>
        </p:spPr>
      </p:pic>
      <p:sp>
        <p:nvSpPr>
          <p:cNvPr id="166" name="Google Shape;24;p3"/>
          <p:cNvSpPr/>
          <p:nvPr/>
        </p:nvSpPr>
        <p:spPr>
          <a:xfrm>
            <a:off x="10194480" y="-1997280"/>
            <a:ext cx="3990960" cy="39909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18;p3"/>
          <p:cNvSpPr/>
          <p:nvPr/>
        </p:nvSpPr>
        <p:spPr>
          <a:xfrm>
            <a:off x="0" y="6773040"/>
            <a:ext cx="12188160" cy="810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6" name="Google Shape;23;p3" descr=""/>
          <p:cNvPicPr/>
          <p:nvPr/>
        </p:nvPicPr>
        <p:blipFill>
          <a:blip r:embed="rId2"/>
          <a:stretch/>
        </p:blipFill>
        <p:spPr>
          <a:xfrm rot="16200000">
            <a:off x="-168840" y="5703840"/>
            <a:ext cx="1200240" cy="198000"/>
          </a:xfrm>
          <a:prstGeom prst="rect">
            <a:avLst/>
          </a:prstGeom>
          <a:ln w="0">
            <a:noFill/>
          </a:ln>
        </p:spPr>
      </p:pic>
      <p:sp>
        <p:nvSpPr>
          <p:cNvPr id="207" name="Google Shape;24;p3"/>
          <p:cNvSpPr/>
          <p:nvPr/>
        </p:nvSpPr>
        <p:spPr>
          <a:xfrm>
            <a:off x="10194480" y="-1997280"/>
            <a:ext cx="3990960" cy="39909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Box 5"/>
          <p:cNvSpPr/>
          <p:nvPr/>
        </p:nvSpPr>
        <p:spPr>
          <a:xfrm>
            <a:off x="7534080" y="907560"/>
            <a:ext cx="24897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Data Science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53" name="Content Placeholder 2"/>
          <p:cNvSpPr/>
          <p:nvPr/>
        </p:nvSpPr>
        <p:spPr>
          <a:xfrm>
            <a:off x="4668120" y="4500360"/>
            <a:ext cx="6396840" cy="12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Student: </a:t>
            </a:r>
            <a:r>
              <a:rPr b="0" i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Mikhail Zybin</a:t>
            </a:r>
            <a:endParaRPr b="0" lang="en-US" sz="2000" spc="-1" strike="noStrike">
              <a:latin typeface="Arial"/>
            </a:endParaRPr>
          </a:p>
          <a:p>
            <a:pPr marL="457200" indent="-228600" algn="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Research Advisor: </a:t>
            </a:r>
            <a:r>
              <a:rPr b="0" i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Philipp Khaitovich</a:t>
            </a:r>
            <a:endParaRPr b="0" lang="en-US" sz="2000" spc="-1" strike="noStrike">
              <a:latin typeface="Arial"/>
            </a:endParaRPr>
          </a:p>
          <a:p>
            <a:pPr marL="457200" indent="-228600" algn="r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</p:txBody>
      </p:sp>
      <p:sp>
        <p:nvSpPr>
          <p:cNvPr id="254" name="Subtitle 1"/>
          <p:cNvSpPr/>
          <p:nvPr/>
        </p:nvSpPr>
        <p:spPr>
          <a:xfrm>
            <a:off x="3204720" y="5938200"/>
            <a:ext cx="639684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50000"/>
          </a:bodyPr>
          <a:p>
            <a:pPr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595959"/>
                </a:solidFill>
                <a:latin typeface="Arial Unicode MS"/>
                <a:ea typeface="DejaVu Sans"/>
              </a:rPr>
              <a:t>April, 2023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255" name="Slide Number Placeholder 3"/>
          <p:cNvSpPr/>
          <p:nvPr/>
        </p:nvSpPr>
        <p:spPr>
          <a:xfrm>
            <a:off x="10300680" y="6278040"/>
            <a:ext cx="188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200" spc="180" strike="noStrike" cap="all">
                <a:solidFill>
                  <a:srgbClr val="ff0000"/>
                </a:solidFill>
                <a:latin typeface="Arial"/>
                <a:ea typeface="DejaVu Sans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56" name="TextBox 1"/>
          <p:cNvSpPr/>
          <p:nvPr/>
        </p:nvSpPr>
        <p:spPr>
          <a:xfrm>
            <a:off x="8022960" y="158400"/>
            <a:ext cx="37814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Приложение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4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/ Appendix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4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-652680" y="1600200"/>
            <a:ext cx="13451040" cy="23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575"/>
              </a:spcBef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Machine Learning Based Analysis 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of Gene Expression and Lipid Composition 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of the Schizophrenia Brain</a:t>
            </a:r>
            <a:endParaRPr b="0" lang="en-US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 1"/>
          <p:cNvSpPr/>
          <p:nvPr/>
        </p:nvSpPr>
        <p:spPr>
          <a:xfrm>
            <a:off x="844200" y="781560"/>
            <a:ext cx="10573200" cy="13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General problem / Introduction / </a:t>
            </a:r>
            <a:endParaRPr b="0" lang="en-US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Background 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59" name="Content Placeholder 2"/>
          <p:cNvSpPr/>
          <p:nvPr/>
        </p:nvSpPr>
        <p:spPr>
          <a:xfrm>
            <a:off x="463320" y="2863800"/>
            <a:ext cx="9890280" cy="28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psychiatric disorder with a convoluted etiology and a lifetime prevalence of 0.84%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an interplay between genetic, epigenetic, and environmental risk factors is involved in SZ etiology</a:t>
            </a:r>
            <a:endParaRPr b="0" lang="en-US" sz="2800" spc="-1" strike="noStrike">
              <a:latin typeface="Arial"/>
              <a:ea typeface="Noto Sans CJK SC"/>
            </a:endParaRPr>
          </a:p>
        </p:txBody>
      </p:sp>
      <p:sp>
        <p:nvSpPr>
          <p:cNvPr id="260" name="Slide Number Placeholder 1"/>
          <p:cNvSpPr/>
          <p:nvPr/>
        </p:nvSpPr>
        <p:spPr>
          <a:xfrm>
            <a:off x="10300680" y="6278040"/>
            <a:ext cx="188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200" spc="180" strike="noStrike" cap="all">
                <a:solidFill>
                  <a:srgbClr val="ff0000"/>
                </a:solidFill>
                <a:latin typeface="Arial"/>
                <a:ea typeface="DejaVu Sans"/>
              </a:rPr>
              <a:t>2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itle 13"/>
          <p:cNvSpPr/>
          <p:nvPr/>
        </p:nvSpPr>
        <p:spPr>
          <a:xfrm>
            <a:off x="844200" y="781560"/>
            <a:ext cx="10573200" cy="13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General problem / Introduction / </a:t>
            </a:r>
            <a:endParaRPr b="0" lang="en-US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Background 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62" name="Content Placeholder 14"/>
          <p:cNvSpPr/>
          <p:nvPr/>
        </p:nvSpPr>
        <p:spPr>
          <a:xfrm>
            <a:off x="463320" y="2863800"/>
            <a:ext cx="9890280" cy="28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3" name="Slide Number Placeholder 2"/>
          <p:cNvSpPr/>
          <p:nvPr/>
        </p:nvSpPr>
        <p:spPr>
          <a:xfrm>
            <a:off x="10300680" y="6278040"/>
            <a:ext cx="188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200" spc="180" strike="noStrike" cap="all">
                <a:solidFill>
                  <a:srgbClr val="ff0000"/>
                </a:solidFill>
                <a:latin typeface="Arial"/>
                <a:ea typeface="DejaVu Sans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264" name=""/>
          <p:cNvGraphicFramePr/>
          <p:nvPr/>
        </p:nvGraphicFramePr>
        <p:xfrm>
          <a:off x="914400" y="2919600"/>
          <a:ext cx="10305000" cy="2565720"/>
        </p:xfrm>
        <a:graphic>
          <a:graphicData uri="http://schemas.openxmlformats.org/drawingml/2006/table">
            <a:tbl>
              <a:tblPr/>
              <a:tblGrid>
                <a:gridCol w="3434040"/>
                <a:gridCol w="3434040"/>
                <a:gridCol w="3436920"/>
              </a:tblGrid>
              <a:tr h="71964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positive symptoms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negative symptoms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cognitive symptoms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72000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delusions and hallucinations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loss of typical affective functions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deﬁcits in attention and executive functioning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itle 8"/>
          <p:cNvSpPr/>
          <p:nvPr/>
        </p:nvSpPr>
        <p:spPr>
          <a:xfrm>
            <a:off x="844200" y="781560"/>
            <a:ext cx="10573200" cy="13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General problem / Introduction / </a:t>
            </a:r>
            <a:endParaRPr b="0" lang="en-US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Background 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66" name="Content Placeholder 9"/>
          <p:cNvSpPr/>
          <p:nvPr/>
        </p:nvSpPr>
        <p:spPr>
          <a:xfrm>
            <a:off x="427320" y="2503800"/>
            <a:ext cx="9890280" cy="28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Molecular mechanisms of schizophrenia are still poorly inderstood.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For the sake of simplicity let us not go into details on what lipids are. This is a specific broad class of molecules.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Genes: structural and functional units of DNA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Expression – reading the information from the gene and building a corresponding protein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We can measure it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Different brain regions have different sets of functions and processes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 indent="-2286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2800" spc="-1" strike="noStrike">
              <a:latin typeface="Arial"/>
              <a:ea typeface="Noto Sans CJK SC"/>
            </a:endParaRPr>
          </a:p>
        </p:txBody>
      </p:sp>
      <p:sp>
        <p:nvSpPr>
          <p:cNvPr id="267" name="Slide Number Placeholder 4"/>
          <p:cNvSpPr/>
          <p:nvPr/>
        </p:nvSpPr>
        <p:spPr>
          <a:xfrm>
            <a:off x="10300680" y="6278040"/>
            <a:ext cx="188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200" spc="180" strike="noStrike" cap="all">
                <a:solidFill>
                  <a:srgbClr val="ff0000"/>
                </a:solidFill>
                <a:latin typeface="Arial"/>
                <a:ea typeface="DejaVu Sans"/>
              </a:rPr>
              <a:t>4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itle 6"/>
          <p:cNvSpPr/>
          <p:nvPr/>
        </p:nvSpPr>
        <p:spPr>
          <a:xfrm>
            <a:off x="844200" y="781560"/>
            <a:ext cx="10573200" cy="13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General problem / Introduction / </a:t>
            </a:r>
            <a:endParaRPr b="0" lang="en-US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Background 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69" name="Content Placeholder 7"/>
          <p:cNvSpPr/>
          <p:nvPr/>
        </p:nvSpPr>
        <p:spPr>
          <a:xfrm>
            <a:off x="463320" y="2863800"/>
            <a:ext cx="9890280" cy="28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no exact detailed picture about what is happening on a molecular level in various brain regions of people with SZ</a:t>
            </a:r>
            <a:endParaRPr b="0" lang="en-US" sz="28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270" name="Slide Number Placeholder 5"/>
          <p:cNvSpPr/>
          <p:nvPr/>
        </p:nvSpPr>
        <p:spPr>
          <a:xfrm>
            <a:off x="10300680" y="6278040"/>
            <a:ext cx="188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200" spc="180" strike="noStrike" cap="all">
                <a:solidFill>
                  <a:srgbClr val="ff0000"/>
                </a:solidFill>
                <a:latin typeface="Arial"/>
                <a:ea typeface="DejaVu Sans"/>
              </a:rPr>
              <a:t>5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itle 5"/>
          <p:cNvSpPr/>
          <p:nvPr/>
        </p:nvSpPr>
        <p:spPr>
          <a:xfrm>
            <a:off x="973080" y="702360"/>
            <a:ext cx="82911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Aim and objectives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72" name="Content Placeholder 6"/>
          <p:cNvSpPr/>
          <p:nvPr/>
        </p:nvSpPr>
        <p:spPr>
          <a:xfrm>
            <a:off x="454320" y="1915920"/>
            <a:ext cx="10821960" cy="439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marL="4572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The goal of this research is to find out what genes, what lipids in what brain regions are most relevant to schizophrenia. 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 indent="-228600" algn="just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endParaRPr b="0" lang="en-US" sz="2800" spc="-1" strike="noStrike">
              <a:latin typeface="Arial"/>
              <a:ea typeface="Noto Sans CJK SC"/>
            </a:endParaRPr>
          </a:p>
          <a:p>
            <a:pPr marL="457200" indent="-2286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identify the most relevant regions, genes and lipids from the available data 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 indent="-2286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potential future experiments on molecular mechanisms of SZ would be able to rely only on a small subset of regions, genes and lipids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 indent="-2286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we want to see whether certain genes or lipids contain most of the necessary signal that distinguishes healthy brains from SZ brains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 indent="-2286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endParaRPr b="0" lang="en-US" sz="2800" spc="-1" strike="noStrike">
              <a:latin typeface="Arial"/>
              <a:ea typeface="Noto Sans CJK SC"/>
            </a:endParaRPr>
          </a:p>
          <a:p>
            <a:pPr marL="457200" indent="-2286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endParaRPr b="0" lang="en-US" sz="2800" spc="-1" strike="noStrike">
              <a:latin typeface="Arial"/>
              <a:ea typeface="Noto Sans CJK SC"/>
            </a:endParaRPr>
          </a:p>
        </p:txBody>
      </p:sp>
      <p:sp>
        <p:nvSpPr>
          <p:cNvPr id="273" name="Slide Number Placeholder 6"/>
          <p:cNvSpPr/>
          <p:nvPr/>
        </p:nvSpPr>
        <p:spPr>
          <a:xfrm>
            <a:off x="10300680" y="6278040"/>
            <a:ext cx="188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200" spc="180" strike="noStrike" cap="all">
                <a:solidFill>
                  <a:srgbClr val="ff0000"/>
                </a:solidFill>
                <a:latin typeface="Arial"/>
                <a:ea typeface="DejaVu Sans"/>
              </a:rPr>
              <a:t>Slides should be numbered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4" name="Slide Number Placeholder 7"/>
          <p:cNvSpPr/>
          <p:nvPr/>
        </p:nvSpPr>
        <p:spPr>
          <a:xfrm>
            <a:off x="10300680" y="6278040"/>
            <a:ext cx="188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200" spc="180" strike="noStrike" cap="all">
                <a:solidFill>
                  <a:srgbClr val="ff0000"/>
                </a:solidFill>
                <a:latin typeface="Arial"/>
                <a:ea typeface="DejaVu Sans"/>
              </a:rPr>
              <a:t>Slides should be numbered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itle 1"/>
          <p:cNvSpPr/>
          <p:nvPr/>
        </p:nvSpPr>
        <p:spPr>
          <a:xfrm>
            <a:off x="973080" y="702360"/>
            <a:ext cx="82911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Aim and objectives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76" name="Content Placeholder 2"/>
          <p:cNvSpPr/>
          <p:nvPr/>
        </p:nvSpPr>
        <p:spPr>
          <a:xfrm>
            <a:off x="454320" y="1915920"/>
            <a:ext cx="10821960" cy="439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Help for the possible experiments in the future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more people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small subset of relevant brain regions, lipids and genes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itle 1"/>
          <p:cNvSpPr/>
          <p:nvPr/>
        </p:nvSpPr>
        <p:spPr>
          <a:xfrm>
            <a:off x="832680" y="1150560"/>
            <a:ext cx="82911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Methods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78" name="Content Placeholder 2"/>
          <p:cNvSpPr/>
          <p:nvPr/>
        </p:nvSpPr>
        <p:spPr>
          <a:xfrm>
            <a:off x="454320" y="2444400"/>
            <a:ext cx="10294560" cy="30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Data Visualization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PCA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itle 2"/>
          <p:cNvSpPr/>
          <p:nvPr/>
        </p:nvSpPr>
        <p:spPr>
          <a:xfrm>
            <a:off x="832680" y="1150560"/>
            <a:ext cx="82911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Methods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80" name="Content Placeholder 3"/>
          <p:cNvSpPr/>
          <p:nvPr/>
        </p:nvSpPr>
        <p:spPr>
          <a:xfrm>
            <a:off x="454320" y="2444400"/>
            <a:ext cx="10294560" cy="30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Data Normalization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for each brain we make the sum of all observations for each lipids equal to zero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1" name="Slide Number Placeholder 16"/>
          <p:cNvSpPr/>
          <p:nvPr/>
        </p:nvSpPr>
        <p:spPr>
          <a:xfrm>
            <a:off x="10300680" y="6278040"/>
            <a:ext cx="188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200" spc="180" strike="noStrike" cap="all">
                <a:solidFill>
                  <a:srgbClr val="ff0000"/>
                </a:solidFill>
                <a:latin typeface="Arial"/>
                <a:ea typeface="DejaVu Sans"/>
              </a:rPr>
              <a:t>Slides should be numbered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itle 10"/>
          <p:cNvSpPr/>
          <p:nvPr/>
        </p:nvSpPr>
        <p:spPr>
          <a:xfrm>
            <a:off x="832680" y="1150560"/>
            <a:ext cx="82911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Methods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83" name="Content Placeholder 11"/>
          <p:cNvSpPr/>
          <p:nvPr/>
        </p:nvSpPr>
        <p:spPr>
          <a:xfrm>
            <a:off x="454320" y="2444400"/>
            <a:ext cx="10294560" cy="30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Data Augmentation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 algn="just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endParaRPr b="0" lang="en-US" sz="2800" spc="-1" strike="noStrike">
              <a:latin typeface="Arial"/>
              <a:ea typeface="Noto Sans CJK SC"/>
            </a:endParaRPr>
          </a:p>
          <a:p>
            <a:pPr marL="457200" algn="just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Estimate Distributions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 algn="just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Assume independence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 algn="just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Generate data from the estimations</a:t>
            </a:r>
            <a:endParaRPr b="0" lang="en-US" sz="2800" spc="-1" strike="noStrike">
              <a:latin typeface="Arial"/>
              <a:ea typeface="Noto Sans CJK SC"/>
            </a:endParaRPr>
          </a:p>
        </p:txBody>
      </p:sp>
      <p:sp>
        <p:nvSpPr>
          <p:cNvPr id="284" name="Slide Number Placeholder 18"/>
          <p:cNvSpPr/>
          <p:nvPr/>
        </p:nvSpPr>
        <p:spPr>
          <a:xfrm>
            <a:off x="10300680" y="6278040"/>
            <a:ext cx="188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200" spc="180" strike="noStrike" cap="all">
                <a:solidFill>
                  <a:srgbClr val="ff0000"/>
                </a:solidFill>
                <a:latin typeface="Arial"/>
                <a:ea typeface="DejaVu Sans"/>
              </a:rPr>
              <a:t>Slides should be numbered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itle 9"/>
          <p:cNvSpPr/>
          <p:nvPr/>
        </p:nvSpPr>
        <p:spPr>
          <a:xfrm>
            <a:off x="832680" y="1150560"/>
            <a:ext cx="82911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Methods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86" name="Content Placeholder 10"/>
          <p:cNvSpPr/>
          <p:nvPr/>
        </p:nvSpPr>
        <p:spPr>
          <a:xfrm>
            <a:off x="454320" y="2444400"/>
            <a:ext cx="10294560" cy="30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Training Dataset Preparation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 algn="just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endParaRPr b="0" lang="en-US" sz="2800" spc="-1" strike="noStrike">
              <a:latin typeface="Arial"/>
              <a:ea typeface="Noto Sans CJK SC"/>
            </a:endParaRPr>
          </a:p>
          <a:p>
            <a:pPr marL="457200" algn="just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1.Treat each brain as object (“Is the brain schizophrenic”)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 algn="just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2.Treat each region as object (“Does a region belong to schizophrenic brain”)</a:t>
            </a:r>
            <a:endParaRPr b="0" lang="en-US" sz="2800" spc="-1" strike="noStrike">
              <a:latin typeface="Arial"/>
              <a:ea typeface="Noto Sans CJK SC"/>
            </a:endParaRPr>
          </a:p>
        </p:txBody>
      </p:sp>
      <p:sp>
        <p:nvSpPr>
          <p:cNvPr id="287" name="Slide Number Placeholder 17"/>
          <p:cNvSpPr/>
          <p:nvPr/>
        </p:nvSpPr>
        <p:spPr>
          <a:xfrm>
            <a:off x="10300680" y="6278040"/>
            <a:ext cx="188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200" spc="180" strike="noStrike" cap="all">
                <a:solidFill>
                  <a:srgbClr val="ff0000"/>
                </a:solidFill>
                <a:latin typeface="Arial"/>
                <a:ea typeface="DejaVu Sans"/>
              </a:rPr>
              <a:t>Slides should be numbered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itle 4"/>
          <p:cNvSpPr/>
          <p:nvPr/>
        </p:nvSpPr>
        <p:spPr>
          <a:xfrm>
            <a:off x="832680" y="1150560"/>
            <a:ext cx="82911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Methods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89" name="Content Placeholder 5"/>
          <p:cNvSpPr/>
          <p:nvPr/>
        </p:nvSpPr>
        <p:spPr>
          <a:xfrm>
            <a:off x="454320" y="2444400"/>
            <a:ext cx="10294560" cy="30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Batch-effect removal for making external datasets comparable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0" name="Slide Number Placeholder 15"/>
          <p:cNvSpPr/>
          <p:nvPr/>
        </p:nvSpPr>
        <p:spPr>
          <a:xfrm>
            <a:off x="10300680" y="6278040"/>
            <a:ext cx="188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200" spc="180" strike="noStrike" cap="all">
                <a:solidFill>
                  <a:srgbClr val="ff0000"/>
                </a:solidFill>
                <a:latin typeface="Arial"/>
                <a:ea typeface="DejaVu Sans"/>
              </a:rPr>
              <a:t>Slides should be numbered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itle 3"/>
          <p:cNvSpPr/>
          <p:nvPr/>
        </p:nvSpPr>
        <p:spPr>
          <a:xfrm>
            <a:off x="832680" y="1150560"/>
            <a:ext cx="82911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Methods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92" name="Content Placeholder 4"/>
          <p:cNvSpPr/>
          <p:nvPr/>
        </p:nvSpPr>
        <p:spPr>
          <a:xfrm>
            <a:off x="454320" y="2444400"/>
            <a:ext cx="10294560" cy="30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Importance Estimation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Random Forest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Permutation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3" name="Slide Number Placeholder 14"/>
          <p:cNvSpPr/>
          <p:nvPr/>
        </p:nvSpPr>
        <p:spPr>
          <a:xfrm>
            <a:off x="10300680" y="6278040"/>
            <a:ext cx="188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200" spc="180" strike="noStrike" cap="all">
                <a:solidFill>
                  <a:srgbClr val="ff0000"/>
                </a:solidFill>
                <a:latin typeface="Arial"/>
                <a:ea typeface="DejaVu Sans"/>
              </a:rPr>
              <a:t>Slides should be numbered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itle 7"/>
          <p:cNvSpPr/>
          <p:nvPr/>
        </p:nvSpPr>
        <p:spPr>
          <a:xfrm>
            <a:off x="832680" y="1150560"/>
            <a:ext cx="82911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Discussion of the results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95" name="Content Placeholder 8"/>
          <p:cNvSpPr/>
          <p:nvPr/>
        </p:nvSpPr>
        <p:spPr>
          <a:xfrm>
            <a:off x="454320" y="2444400"/>
            <a:ext cx="10294560" cy="30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Data has been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augmented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 algn="just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Transcriptomics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– by external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dataset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 algn="just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Lipidomics – by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estimation and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generation</a:t>
            </a:r>
            <a:endParaRPr b="0" lang="en-US" sz="2800" spc="-1" strike="noStrike">
              <a:latin typeface="Arial"/>
              <a:ea typeface="Noto Sans CJK SC"/>
            </a:endParaRPr>
          </a:p>
        </p:txBody>
      </p:sp>
      <p:sp>
        <p:nvSpPr>
          <p:cNvPr id="296" name="Slide Number Placeholder 11"/>
          <p:cNvSpPr/>
          <p:nvPr/>
        </p:nvSpPr>
        <p:spPr>
          <a:xfrm>
            <a:off x="10300680" y="6278040"/>
            <a:ext cx="188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200" spc="180" strike="noStrike" cap="all">
                <a:solidFill>
                  <a:srgbClr val="ff0000"/>
                </a:solidFill>
                <a:latin typeface="Arial"/>
                <a:ea typeface="DejaVu Sans"/>
              </a:rPr>
              <a:t>Slides should be numbered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itle 1"/>
          <p:cNvSpPr/>
          <p:nvPr/>
        </p:nvSpPr>
        <p:spPr>
          <a:xfrm>
            <a:off x="718200" y="1141920"/>
            <a:ext cx="881820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Scientific novelty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98" name="Content Placeholder 2"/>
          <p:cNvSpPr/>
          <p:nvPr/>
        </p:nvSpPr>
        <p:spPr>
          <a:xfrm>
            <a:off x="610200" y="2019600"/>
            <a:ext cx="10333800" cy="400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indent="-2286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Best research on the same topic: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 indent="-2286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5 regions (Entorhinal cortex, prefrontal cortex, amygdala, corpus callosum, hippocampus)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 indent="-2286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only Fatty Acids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 indent="-2286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questionable usage of multiple testing correction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 indent="-2286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good source of hypotheses for us to verify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 indent="-2286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en-US" sz="2800" spc="-1" strike="noStrike">
              <a:latin typeface="Arial"/>
              <a:ea typeface="Noto Sans CJK SC"/>
            </a:endParaRPr>
          </a:p>
          <a:p>
            <a:pPr marL="457200" indent="-2286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we have more brain regions, more lipid classes, and gene expression</a:t>
            </a:r>
            <a:endParaRPr b="0" lang="en-US" sz="2800" spc="-1" strike="noStrike">
              <a:latin typeface="Arial"/>
              <a:ea typeface="Noto Sans CJK SC"/>
            </a:endParaRPr>
          </a:p>
          <a:p>
            <a:pPr marL="457200" indent="-228600">
              <a:lnSpc>
                <a:spcPct val="9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can combine</a:t>
            </a:r>
            <a:endParaRPr b="0" lang="en-US" sz="2800" spc="-1" strike="noStrike">
              <a:latin typeface="Arial"/>
              <a:ea typeface="Noto Sans CJK SC"/>
            </a:endParaRPr>
          </a:p>
        </p:txBody>
      </p:sp>
      <p:sp>
        <p:nvSpPr>
          <p:cNvPr id="299" name="Slide Number Placeholder 10"/>
          <p:cNvSpPr/>
          <p:nvPr/>
        </p:nvSpPr>
        <p:spPr>
          <a:xfrm>
            <a:off x="10300680" y="6278040"/>
            <a:ext cx="188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200" spc="180" strike="noStrike" cap="all">
                <a:solidFill>
                  <a:srgbClr val="ff0000"/>
                </a:solidFill>
                <a:latin typeface="Arial"/>
                <a:ea typeface="DejaVu Sans"/>
              </a:rPr>
              <a:t>Slides should be numbered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itle 1"/>
          <p:cNvSpPr/>
          <p:nvPr/>
        </p:nvSpPr>
        <p:spPr>
          <a:xfrm>
            <a:off x="1175400" y="1054080"/>
            <a:ext cx="82911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4000" spc="-1" strike="noStrike">
                <a:solidFill>
                  <a:srgbClr val="000000"/>
                </a:solidFill>
                <a:latin typeface="Arial"/>
                <a:ea typeface="Arial"/>
              </a:rPr>
              <a:t>Conclusion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301" name="Content Placeholder 2"/>
          <p:cNvSpPr/>
          <p:nvPr/>
        </p:nvSpPr>
        <p:spPr>
          <a:xfrm>
            <a:off x="735840" y="2250000"/>
            <a:ext cx="8291160" cy="35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Brains of healthy people and people with SZ have different lipid composition and gene expression, which is possible to notice and measure using statistical tools.</a:t>
            </a:r>
            <a:endParaRPr b="0" lang="en-US" sz="28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302" name="Slide Number Placeholder 9"/>
          <p:cNvSpPr/>
          <p:nvPr/>
        </p:nvSpPr>
        <p:spPr>
          <a:xfrm>
            <a:off x="10300680" y="6278040"/>
            <a:ext cx="188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200" spc="180" strike="noStrike" cap="all">
                <a:solidFill>
                  <a:srgbClr val="ff0000"/>
                </a:solidFill>
                <a:latin typeface="Arial"/>
                <a:ea typeface="DejaVu Sans"/>
              </a:rPr>
              <a:t>Slides should be numbered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itle 1"/>
          <p:cNvSpPr/>
          <p:nvPr/>
        </p:nvSpPr>
        <p:spPr>
          <a:xfrm>
            <a:off x="1175400" y="1054080"/>
            <a:ext cx="82911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Outlook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304" name="Content Placeholder 2"/>
          <p:cNvSpPr/>
          <p:nvPr/>
        </p:nvSpPr>
        <p:spPr>
          <a:xfrm>
            <a:off x="735840" y="2250000"/>
            <a:ext cx="8291160" cy="35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8252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We are planning to write a paper about this topic and share our insights with the research centers that are doing the actual experiments.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305" name="Slide Number Placeholder 8"/>
          <p:cNvSpPr/>
          <p:nvPr/>
        </p:nvSpPr>
        <p:spPr>
          <a:xfrm>
            <a:off x="10300680" y="6278040"/>
            <a:ext cx="188748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200" spc="180" strike="noStrike" cap="all">
                <a:solidFill>
                  <a:srgbClr val="ff0000"/>
                </a:solidFill>
                <a:latin typeface="Arial"/>
                <a:ea typeface="DejaVu Sans"/>
              </a:rPr>
              <a:t>Slides should be numbered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itle 1"/>
          <p:cNvSpPr/>
          <p:nvPr/>
        </p:nvSpPr>
        <p:spPr>
          <a:xfrm>
            <a:off x="982080" y="1098000"/>
            <a:ext cx="82911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Acknowledgements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307" name="Content Placeholder 2"/>
          <p:cNvSpPr/>
          <p:nvPr/>
        </p:nvSpPr>
        <p:spPr>
          <a:xfrm>
            <a:off x="533520" y="2408400"/>
            <a:ext cx="8291160" cy="35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Maria Osetrova, research engineer at Skoltech Center of Life Sciences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Provided the dataset and explanation of its file structure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1977</TotalTime>
  <Application>LibreOffice/7.3.7.2$Linux_X86_64 LibreOffice_project/30$Build-2</Application>
  <AppVersion>15.0000</AppVersion>
  <Words>628</Words>
  <Paragraphs>90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Daria Tokmeninova</dc:creator>
  <dc:description/>
  <dc:language>en-US</dc:language>
  <cp:lastModifiedBy/>
  <dcterms:modified xsi:type="dcterms:W3CDTF">2023-04-18T21:54:57Z</dcterms:modified>
  <cp:revision>44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Widescreen</vt:lpwstr>
  </property>
  <property fmtid="{D5CDD505-2E9C-101B-9397-08002B2CF9AE}" pid="4" name="Slides">
    <vt:i4>12</vt:i4>
  </property>
</Properties>
</file>