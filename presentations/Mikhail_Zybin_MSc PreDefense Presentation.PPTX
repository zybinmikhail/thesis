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3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10.xml" ContentType="application/vnd.openxmlformats-officedocument.theme+xml"/>
  <Override PartName="/ppt/theme/theme5.xml" ContentType="application/vnd.openxmlformats-officedocument.theme+xml"/>
  <Override PartName="/ppt/theme/theme11.xml" ContentType="application/vnd.openxmlformats-officedocument.theme+xml"/>
  <Override PartName="/ppt/theme/theme6.xml" ContentType="application/vnd.openxmlformats-officedocument.theme+xml"/>
  <Override PartName="/ppt/theme/theme12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_rels/notesSlide8.xml.rels" ContentType="application/vnd.openxmlformats-package.relationships+xml"/>
  <Override PartName="/ppt/notesSlides/_rels/notesSlide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4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3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1.xml.rels" ContentType="application/vnd.openxmlformats-package.relationship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_rels/presentation.xml.rels" ContentType="application/vnd.openxmlformats-package.relationships+xml"/>
  <Override PartName="/ppt/media/image9.png" ContentType="image/png"/>
  <Override PartName="/ppt/media/image13.png" ContentType="image/png"/>
  <Override PartName="/ppt/media/image8.png" ContentType="image/png"/>
  <Override PartName="/ppt/media/image12.png" ContentType="image/png"/>
  <Override PartName="/ppt/media/image7.png" ContentType="image/png"/>
  <Override PartName="/ppt/media/image11.png" ContentType="image/png"/>
  <Override PartName="/ppt/media/image6.png" ContentType="image/png"/>
  <Override PartName="/ppt/media/image10.png" ContentType="image/png"/>
  <Override PartName="/ppt/media/image5.png" ContentType="image/png"/>
  <Override PartName="/ppt/media/image22.png" ContentType="image/png"/>
  <Override PartName="/ppt/media/image4.png" ContentType="image/png"/>
  <Override PartName="/ppt/media/image21.png" ContentType="image/png"/>
  <Override PartName="/ppt/media/image19.png" ContentType="image/png"/>
  <Override PartName="/ppt/media/image1.png" ContentType="image/png"/>
  <Override PartName="/ppt/media/image3.png" ContentType="image/png"/>
  <Override PartName="/ppt/media/image20.png" ContentType="image/png"/>
  <Override PartName="/ppt/media/image18.png" ContentType="image/png"/>
  <Override PartName="/ppt/media/image17.png" ContentType="image/png"/>
  <Override PartName="/ppt/media/image16.png" ContentType="image/png"/>
  <Override PartName="/ppt/media/image15.png" ContentType="image/png"/>
  <Override PartName="/ppt/media/image14.png" ContentType="image/png"/>
  <Override PartName="/ppt/media/image2.png" ContentType="image/png"/>
  <Override PartName="/ppt/slideLayouts/_rels/slideLayout1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32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slideLayout124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1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23.xml.rels" ContentType="application/vnd.openxmlformats-package.relationships+xml"/>
  <Override PartName="/ppt/slides/_rels/slide11.xml.rels" ContentType="application/vnd.openxmlformats-package.relationships+xml"/>
  <Override PartName="/ppt/slides/_rels/slide24.xml.rels" ContentType="application/vnd.openxmlformats-package.relationships+xml"/>
  <Override PartName="/ppt/slides/_rels/slide14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</p:sldMasterIdLst>
  <p:notesMasterIdLst>
    <p:notesMasterId r:id="rId13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279" r:id="rId3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5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5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4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5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6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C77DACB6-F018-4CBA-A572-0BD1D06D42A8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5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57200" indent="-2286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Phrases you may find useful:</a:t>
            </a: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The area of my research covers …</a:t>
            </a: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Today … has been already studied in the field.</a:t>
            </a: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200" spc="-1" strike="noStrike">
              <a:latin typeface="Arial"/>
            </a:endParaRPr>
          </a:p>
        </p:txBody>
      </p:sp>
      <p:sp>
        <p:nvSpPr>
          <p:cNvPr id="55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219A50BA-7A36-409A-8DC0-EFF1D7F4F83E}" type="slidenum"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8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5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57200" indent="-2286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Phrases you may find useful:</a:t>
            </a: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The area of my research covers …</a:t>
            </a: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Today … has been already studied in the field.</a:t>
            </a: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200" spc="-1" strike="noStrike">
              <a:latin typeface="Arial"/>
            </a:endParaRPr>
          </a:p>
        </p:txBody>
      </p:sp>
      <p:sp>
        <p:nvSpPr>
          <p:cNvPr id="55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1F6F2F40-DD5D-4EF7-BD3B-D3B75F64FA05}" type="slidenum"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8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5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57200" indent="-2286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Phrases you may find useful:</a:t>
            </a: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The area of my research covers …</a:t>
            </a: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Today … has been already studied in the field.</a:t>
            </a: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200" spc="-1" strike="noStrike">
              <a:latin typeface="Arial"/>
            </a:endParaRPr>
          </a:p>
        </p:txBody>
      </p:sp>
      <p:sp>
        <p:nvSpPr>
          <p:cNvPr id="55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C71F9AC6-FBA1-46ED-81D2-60864A291E7A}" type="slidenum"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8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5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57200" indent="-2286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Phrases you may find useful:</a:t>
            </a: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The area of my research covers …</a:t>
            </a: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Today … has been already studied in the field.</a:t>
            </a: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200" spc="-1" strike="noStrike">
              <a:latin typeface="Arial"/>
            </a:endParaRPr>
          </a:p>
        </p:txBody>
      </p:sp>
      <p:sp>
        <p:nvSpPr>
          <p:cNvPr id="56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0343685A-3A44-4081-840C-A1961A59C711}" type="slidenum"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5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57200" indent="-2286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Phrases you may find useful:</a:t>
            </a: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The area of my research covers …</a:t>
            </a: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Today … has been already studied in the field.</a:t>
            </a: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200" spc="-1" strike="noStrike">
              <a:latin typeface="Arial"/>
            </a:endParaRPr>
          </a:p>
        </p:txBody>
      </p:sp>
      <p:sp>
        <p:nvSpPr>
          <p:cNvPr id="56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FF3D592C-A8BA-4477-9BF6-3635B35101EF}" type="slidenum"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5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57200" indent="-2286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Phrases you may find useful:</a:t>
            </a: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The area of my research covers …</a:t>
            </a: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Today … has been already studied in the field.</a:t>
            </a: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200" spc="-1" strike="noStrike">
              <a:latin typeface="Arial"/>
            </a:endParaRPr>
          </a:p>
        </p:txBody>
      </p:sp>
      <p:sp>
        <p:nvSpPr>
          <p:cNvPr id="56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49DA599E-0D58-4C59-B7E1-9786E6DB7CF4}" type="slidenum"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5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57200" indent="-2286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The overall purpose of the work is to …  </a:t>
            </a: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The objectives of the present research run as follows:</a:t>
            </a: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1… </a:t>
            </a: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2… </a:t>
            </a: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3…</a:t>
            </a: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200" spc="-1" strike="noStrike">
              <a:latin typeface="Arial"/>
            </a:endParaRPr>
          </a:p>
        </p:txBody>
      </p:sp>
      <p:sp>
        <p:nvSpPr>
          <p:cNvPr id="56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32C1E61A-EC79-4930-95CF-C146F64FCDA9}" type="slidenum"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5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57200" indent="-2286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Phrases you may find useful:</a:t>
            </a:r>
            <a:endParaRPr b="0" lang="en-US" sz="1200" spc="-1" strike="noStrike">
              <a:latin typeface="Arial"/>
            </a:endParaRPr>
          </a:p>
          <a:p>
            <a:pPr marL="3999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All these results suggest that …</a:t>
            </a:r>
            <a:endParaRPr b="0" lang="en-US" sz="1200" spc="-1" strike="noStrike">
              <a:latin typeface="Arial"/>
            </a:endParaRPr>
          </a:p>
          <a:p>
            <a:pPr marL="3999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We can conclude that … </a:t>
            </a:r>
            <a:endParaRPr b="0" lang="en-US" sz="1200" spc="-1" strike="noStrike">
              <a:latin typeface="Arial"/>
            </a:endParaRPr>
          </a:p>
          <a:p>
            <a:pPr marL="3999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Taken together, these results point to three conclusions …</a:t>
            </a:r>
            <a:endParaRPr b="0" lang="en-US" sz="1200" spc="-1" strike="noStrike">
              <a:latin typeface="Arial"/>
            </a:endParaRPr>
          </a:p>
          <a:p>
            <a:pPr marL="3999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To sum up, … </a:t>
            </a:r>
            <a:endParaRPr b="0" lang="en-US" sz="1200" spc="-1" strike="noStrike">
              <a:latin typeface="Arial"/>
            </a:endParaRPr>
          </a:p>
          <a:p>
            <a:pPr marL="3999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Although it is still too early to draw a definite conclusion, it can be stated that … </a:t>
            </a:r>
            <a:endParaRPr b="0" lang="en-US" sz="1200" spc="-1" strike="noStrike">
              <a:latin typeface="Arial"/>
            </a:endParaRPr>
          </a:p>
          <a:p>
            <a:pPr marL="3999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Although the obtained data are limited, we may conclude that 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7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01241128-36D1-46DC-A8EE-4D1D67354437}" type="slidenum"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5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57200" indent="-2286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Phrases you may find useful:</a:t>
            </a:r>
            <a:endParaRPr b="0" lang="en-US" sz="1200" spc="-1" strike="noStrike">
              <a:latin typeface="Arial"/>
            </a:endParaRPr>
          </a:p>
          <a:p>
            <a:pPr marL="3999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All these results suggest that …</a:t>
            </a:r>
            <a:endParaRPr b="0" lang="en-US" sz="1200" spc="-1" strike="noStrike">
              <a:latin typeface="Arial"/>
            </a:endParaRPr>
          </a:p>
          <a:p>
            <a:pPr marL="3999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We can conclude that … </a:t>
            </a:r>
            <a:endParaRPr b="0" lang="en-US" sz="1200" spc="-1" strike="noStrike">
              <a:latin typeface="Arial"/>
            </a:endParaRPr>
          </a:p>
          <a:p>
            <a:pPr marL="3999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Taken together, these results point to three conclusions …</a:t>
            </a:r>
            <a:endParaRPr b="0" lang="en-US" sz="1200" spc="-1" strike="noStrike">
              <a:latin typeface="Arial"/>
            </a:endParaRPr>
          </a:p>
          <a:p>
            <a:pPr marL="3999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To sum up, … </a:t>
            </a:r>
            <a:endParaRPr b="0" lang="en-US" sz="1200" spc="-1" strike="noStrike">
              <a:latin typeface="Arial"/>
            </a:endParaRPr>
          </a:p>
          <a:p>
            <a:pPr marL="3999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Although it is still too early to draw a definite conclusion, it can be stated that … </a:t>
            </a:r>
            <a:endParaRPr b="0" lang="en-US" sz="1200" spc="-1" strike="noStrike">
              <a:latin typeface="Arial"/>
            </a:endParaRPr>
          </a:p>
          <a:p>
            <a:pPr marL="3999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Although the obtained data are limited, we may conclude that 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7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47DABF86-BD10-4BA3-92A1-4B28B3176872}" type="slidenum"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5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57200" indent="-2286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Phrases you may find useful:</a:t>
            </a: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The achieved results indicate that the work along the same line should proceed. Thus, the long-term results of the project are to …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200" spc="-1" strike="noStrike">
              <a:latin typeface="Arial"/>
            </a:endParaRPr>
          </a:p>
        </p:txBody>
      </p:sp>
      <p:sp>
        <p:nvSpPr>
          <p:cNvPr id="57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CA87CE31-9122-4950-BEB7-C9665A3734C6}" type="slidenum"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000" cy="3080880"/>
          </a:xfrm>
          <a:prstGeom prst="rect">
            <a:avLst/>
          </a:prstGeom>
          <a:ln w="0">
            <a:noFill/>
          </a:ln>
        </p:spPr>
      </p:sp>
      <p:sp>
        <p:nvSpPr>
          <p:cNvPr id="5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000" cy="3594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Phrases you may find useful:</a:t>
            </a: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I would like to express my gratitude to … who &lt;provided smth /assisted in smth/ conducted smth/ etc.&gt;</a:t>
            </a:r>
            <a:endParaRPr b="0" lang="en-US" sz="1200" spc="-1" strike="noStrike">
              <a:latin typeface="Arial"/>
            </a:endParaRPr>
          </a:p>
          <a:p>
            <a:pPr marL="457200" indent="-2286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Thank you for your attention. Now I’m ready to answer your 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8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6400" cy="45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D4575589-DC71-45B1-9F23-EB4D42BBE947}" type="slidenum"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1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5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6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7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8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8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8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0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9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9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2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0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5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6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7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8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9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1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2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3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3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3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4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4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4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4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4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4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5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49.xml"/><Relationship Id="rId4" Type="http://schemas.openxmlformats.org/officeDocument/2006/relationships/slideLayout" Target="../slideLayouts/slideLayout50.xml"/><Relationship Id="rId5" Type="http://schemas.openxmlformats.org/officeDocument/2006/relationships/slideLayout" Target="../slideLayouts/slideLayout51.xml"/><Relationship Id="rId6" Type="http://schemas.openxmlformats.org/officeDocument/2006/relationships/slideLayout" Target="../slideLayouts/slideLayout52.xml"/><Relationship Id="rId7" Type="http://schemas.openxmlformats.org/officeDocument/2006/relationships/slideLayout" Target="../slideLayouts/slideLayout53.xml"/><Relationship Id="rId8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6.xml"/><Relationship Id="rId11" Type="http://schemas.openxmlformats.org/officeDocument/2006/relationships/slideLayout" Target="../slideLayouts/slideLayout57.xml"/><Relationship Id="rId12" Type="http://schemas.openxmlformats.org/officeDocument/2006/relationships/slideLayout" Target="../slideLayouts/slideLayout58.xml"/><Relationship Id="rId13" Type="http://schemas.openxmlformats.org/officeDocument/2006/relationships/slideLayout" Target="../slideLayouts/slideLayout59.xml"/><Relationship Id="rId14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61.xml"/><Relationship Id="rId4" Type="http://schemas.openxmlformats.org/officeDocument/2006/relationships/slideLayout" Target="../slideLayouts/slideLayout62.xml"/><Relationship Id="rId5" Type="http://schemas.openxmlformats.org/officeDocument/2006/relationships/slideLayout" Target="../slideLayouts/slideLayout63.xml"/><Relationship Id="rId6" Type="http://schemas.openxmlformats.org/officeDocument/2006/relationships/slideLayout" Target="../slideLayouts/slideLayout64.xml"/><Relationship Id="rId7" Type="http://schemas.openxmlformats.org/officeDocument/2006/relationships/slideLayout" Target="../slideLayouts/slideLayout65.xml"/><Relationship Id="rId8" Type="http://schemas.openxmlformats.org/officeDocument/2006/relationships/slideLayout" Target="../slideLayouts/slideLayout66.xml"/><Relationship Id="rId9" Type="http://schemas.openxmlformats.org/officeDocument/2006/relationships/slideLayout" Target="../slideLayouts/slideLayout67.xml"/><Relationship Id="rId10" Type="http://schemas.openxmlformats.org/officeDocument/2006/relationships/slideLayout" Target="../slideLayouts/slideLayout68.xml"/><Relationship Id="rId11" Type="http://schemas.openxmlformats.org/officeDocument/2006/relationships/slideLayout" Target="../slideLayouts/slideLayout69.xml"/><Relationship Id="rId12" Type="http://schemas.openxmlformats.org/officeDocument/2006/relationships/slideLayout" Target="../slideLayouts/slideLayout70.xml"/><Relationship Id="rId13" Type="http://schemas.openxmlformats.org/officeDocument/2006/relationships/slideLayout" Target="../slideLayouts/slideLayout71.xml"/><Relationship Id="rId14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73.xml"/><Relationship Id="rId4" Type="http://schemas.openxmlformats.org/officeDocument/2006/relationships/slideLayout" Target="../slideLayouts/slideLayout74.xml"/><Relationship Id="rId5" Type="http://schemas.openxmlformats.org/officeDocument/2006/relationships/slideLayout" Target="../slideLayouts/slideLayout75.xml"/><Relationship Id="rId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78.xml"/><Relationship Id="rId9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80.xml"/><Relationship Id="rId11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2.xml"/><Relationship Id="rId13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85.xml"/><Relationship Id="rId4" Type="http://schemas.openxmlformats.org/officeDocument/2006/relationships/slideLayout" Target="../slideLayouts/slideLayout86.xml"/><Relationship Id="rId5" Type="http://schemas.openxmlformats.org/officeDocument/2006/relationships/slideLayout" Target="../slideLayouts/slideLayout87.xml"/><Relationship Id="rId6" Type="http://schemas.openxmlformats.org/officeDocument/2006/relationships/slideLayout" Target="../slideLayouts/slideLayout88.xml"/><Relationship Id="rId7" Type="http://schemas.openxmlformats.org/officeDocument/2006/relationships/slideLayout" Target="../slideLayouts/slideLayout89.xml"/><Relationship Id="rId8" Type="http://schemas.openxmlformats.org/officeDocument/2006/relationships/slideLayout" Target="../slideLayouts/slideLayout90.xml"/><Relationship Id="rId9" Type="http://schemas.openxmlformats.org/officeDocument/2006/relationships/slideLayout" Target="../slideLayouts/slideLayout91.xml"/><Relationship Id="rId10" Type="http://schemas.openxmlformats.org/officeDocument/2006/relationships/slideLayout" Target="../slideLayouts/slideLayout92.xml"/><Relationship Id="rId11" Type="http://schemas.openxmlformats.org/officeDocument/2006/relationships/slideLayout" Target="../slideLayouts/slideLayout93.xml"/><Relationship Id="rId12" Type="http://schemas.openxmlformats.org/officeDocument/2006/relationships/slideLayout" Target="../slideLayouts/slideLayout94.xml"/><Relationship Id="rId13" Type="http://schemas.openxmlformats.org/officeDocument/2006/relationships/slideLayout" Target="../slideLayouts/slideLayout95.xml"/><Relationship Id="rId14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97.xml"/><Relationship Id="rId4" Type="http://schemas.openxmlformats.org/officeDocument/2006/relationships/slideLayout" Target="../slideLayouts/slideLayout98.xml"/><Relationship Id="rId5" Type="http://schemas.openxmlformats.org/officeDocument/2006/relationships/slideLayout" Target="../slideLayouts/slideLayout99.xml"/><Relationship Id="rId6" Type="http://schemas.openxmlformats.org/officeDocument/2006/relationships/slideLayout" Target="../slideLayouts/slideLayout100.xml"/><Relationship Id="rId7" Type="http://schemas.openxmlformats.org/officeDocument/2006/relationships/slideLayout" Target="../slideLayouts/slideLayout101.xml"/><Relationship Id="rId8" Type="http://schemas.openxmlformats.org/officeDocument/2006/relationships/slideLayout" Target="../slideLayouts/slideLayout102.xml"/><Relationship Id="rId9" Type="http://schemas.openxmlformats.org/officeDocument/2006/relationships/slideLayout" Target="../slideLayouts/slideLayout103.xml"/><Relationship Id="rId10" Type="http://schemas.openxmlformats.org/officeDocument/2006/relationships/slideLayout" Target="../slideLayouts/slideLayout104.xml"/><Relationship Id="rId11" Type="http://schemas.openxmlformats.org/officeDocument/2006/relationships/slideLayout" Target="../slideLayouts/slideLayout105.xml"/><Relationship Id="rId12" Type="http://schemas.openxmlformats.org/officeDocument/2006/relationships/slideLayout" Target="../slideLayouts/slideLayout106.xml"/><Relationship Id="rId13" Type="http://schemas.openxmlformats.org/officeDocument/2006/relationships/slideLayout" Target="../slideLayouts/slideLayout107.xml"/><Relationship Id="rId14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09.xml"/><Relationship Id="rId4" Type="http://schemas.openxmlformats.org/officeDocument/2006/relationships/slideLayout" Target="../slideLayouts/slideLayout110.xml"/><Relationship Id="rId5" Type="http://schemas.openxmlformats.org/officeDocument/2006/relationships/slideLayout" Target="../slideLayouts/slideLayout111.xml"/><Relationship Id="rId6" Type="http://schemas.openxmlformats.org/officeDocument/2006/relationships/slideLayout" Target="../slideLayouts/slideLayout112.xml"/><Relationship Id="rId7" Type="http://schemas.openxmlformats.org/officeDocument/2006/relationships/slideLayout" Target="../slideLayouts/slideLayout113.xml"/><Relationship Id="rId8" Type="http://schemas.openxmlformats.org/officeDocument/2006/relationships/slideLayout" Target="../slideLayouts/slideLayout114.xml"/><Relationship Id="rId9" Type="http://schemas.openxmlformats.org/officeDocument/2006/relationships/slideLayout" Target="../slideLayouts/slideLayout115.xml"/><Relationship Id="rId10" Type="http://schemas.openxmlformats.org/officeDocument/2006/relationships/slideLayout" Target="../slideLayouts/slideLayout116.xml"/><Relationship Id="rId11" Type="http://schemas.openxmlformats.org/officeDocument/2006/relationships/slideLayout" Target="../slideLayouts/slideLayout117.xml"/><Relationship Id="rId12" Type="http://schemas.openxmlformats.org/officeDocument/2006/relationships/slideLayout" Target="../slideLayouts/slideLayout118.xml"/><Relationship Id="rId13" Type="http://schemas.openxmlformats.org/officeDocument/2006/relationships/slideLayout" Target="../slideLayouts/slideLayout119.xml"/><Relationship Id="rId14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121.xml"/><Relationship Id="rId4" Type="http://schemas.openxmlformats.org/officeDocument/2006/relationships/slideLayout" Target="../slideLayouts/slideLayout122.xml"/><Relationship Id="rId5" Type="http://schemas.openxmlformats.org/officeDocument/2006/relationships/slideLayout" Target="../slideLayouts/slideLayout123.xml"/><Relationship Id="rId6" Type="http://schemas.openxmlformats.org/officeDocument/2006/relationships/slideLayout" Target="../slideLayouts/slideLayout124.xml"/><Relationship Id="rId7" Type="http://schemas.openxmlformats.org/officeDocument/2006/relationships/slideLayout" Target="../slideLayouts/slideLayout125.xml"/><Relationship Id="rId8" Type="http://schemas.openxmlformats.org/officeDocument/2006/relationships/slideLayout" Target="../slideLayouts/slideLayout126.xml"/><Relationship Id="rId9" Type="http://schemas.openxmlformats.org/officeDocument/2006/relationships/slideLayout" Target="../slideLayouts/slideLayout127.xml"/><Relationship Id="rId10" Type="http://schemas.openxmlformats.org/officeDocument/2006/relationships/slideLayout" Target="../slideLayouts/slideLayout128.xml"/><Relationship Id="rId11" Type="http://schemas.openxmlformats.org/officeDocument/2006/relationships/slideLayout" Target="../slideLayouts/slideLayout129.xml"/><Relationship Id="rId12" Type="http://schemas.openxmlformats.org/officeDocument/2006/relationships/slideLayout" Target="../slideLayouts/slideLayout130.xml"/><Relationship Id="rId13" Type="http://schemas.openxmlformats.org/officeDocument/2006/relationships/slideLayout" Target="../slideLayouts/slideLayout131.xml"/><Relationship Id="rId14" Type="http://schemas.openxmlformats.org/officeDocument/2006/relationships/slideLayout" Target="../slideLayouts/slideLayout13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Google Shape;18;p3"/>
          <p:cNvSpPr/>
          <p:nvPr/>
        </p:nvSpPr>
        <p:spPr>
          <a:xfrm>
            <a:off x="0" y="6773040"/>
            <a:ext cx="12186720" cy="79560"/>
          </a:xfrm>
          <a:prstGeom prst="rect">
            <a:avLst/>
          </a:prstGeom>
          <a:solidFill>
            <a:srgbClr val="aac5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" name="Google Shape;23;p3" descr=""/>
          <p:cNvPicPr/>
          <p:nvPr/>
        </p:nvPicPr>
        <p:blipFill>
          <a:blip r:embed="rId2"/>
          <a:stretch/>
        </p:blipFill>
        <p:spPr>
          <a:xfrm rot="16200000">
            <a:off x="-167400" y="5705280"/>
            <a:ext cx="1198800" cy="196560"/>
          </a:xfrm>
          <a:prstGeom prst="rect">
            <a:avLst/>
          </a:prstGeom>
          <a:ln w="0">
            <a:noFill/>
          </a:ln>
        </p:spPr>
      </p:pic>
      <p:sp>
        <p:nvSpPr>
          <p:cNvPr id="2" name="Google Shape;24;p3"/>
          <p:cNvSpPr/>
          <p:nvPr/>
        </p:nvSpPr>
        <p:spPr>
          <a:xfrm>
            <a:off x="10194480" y="-1997280"/>
            <a:ext cx="3989520" cy="3989520"/>
          </a:xfrm>
          <a:prstGeom prst="pie">
            <a:avLst>
              <a:gd name="adj1" fmla="val 5396160"/>
              <a:gd name="adj2" fmla="val 10809062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18;p3"/>
          <p:cNvSpPr/>
          <p:nvPr/>
        </p:nvSpPr>
        <p:spPr>
          <a:xfrm>
            <a:off x="0" y="6773040"/>
            <a:ext cx="12186720" cy="79560"/>
          </a:xfrm>
          <a:prstGeom prst="rect">
            <a:avLst/>
          </a:prstGeom>
          <a:solidFill>
            <a:srgbClr val="aac5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42" name="Google Shape;23;p3" descr=""/>
          <p:cNvPicPr/>
          <p:nvPr/>
        </p:nvPicPr>
        <p:blipFill>
          <a:blip r:embed="rId2"/>
          <a:stretch/>
        </p:blipFill>
        <p:spPr>
          <a:xfrm rot="16200000">
            <a:off x="-167400" y="5705280"/>
            <a:ext cx="1198800" cy="196560"/>
          </a:xfrm>
          <a:prstGeom prst="rect">
            <a:avLst/>
          </a:prstGeom>
          <a:ln w="0">
            <a:noFill/>
          </a:ln>
        </p:spPr>
      </p:pic>
      <p:sp>
        <p:nvSpPr>
          <p:cNvPr id="43" name="Google Shape;24;p3"/>
          <p:cNvSpPr/>
          <p:nvPr/>
        </p:nvSpPr>
        <p:spPr>
          <a:xfrm>
            <a:off x="10194480" y="-1997280"/>
            <a:ext cx="3989520" cy="3989520"/>
          </a:xfrm>
          <a:prstGeom prst="pie">
            <a:avLst>
              <a:gd name="adj1" fmla="val 5396160"/>
              <a:gd name="adj2" fmla="val 10809062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</a:t>
            </a:r>
            <a:r>
              <a:rPr b="0" lang="en-US" sz="4400" spc="-1" strike="noStrike">
                <a:latin typeface="Arial"/>
              </a:rPr>
              <a:t>the title text </a:t>
            </a:r>
            <a:r>
              <a:rPr b="0" lang="en-US" sz="4400" spc="-1" strike="noStrike">
                <a:latin typeface="Arial"/>
              </a:rPr>
              <a:t>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18;p3"/>
          <p:cNvSpPr/>
          <p:nvPr/>
        </p:nvSpPr>
        <p:spPr>
          <a:xfrm>
            <a:off x="0" y="6773040"/>
            <a:ext cx="12186720" cy="79560"/>
          </a:xfrm>
          <a:prstGeom prst="rect">
            <a:avLst/>
          </a:prstGeom>
          <a:solidFill>
            <a:srgbClr val="aac5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83" name="Google Shape;23;p3" descr=""/>
          <p:cNvPicPr/>
          <p:nvPr/>
        </p:nvPicPr>
        <p:blipFill>
          <a:blip r:embed="rId2"/>
          <a:stretch/>
        </p:blipFill>
        <p:spPr>
          <a:xfrm rot="16200000">
            <a:off x="-167400" y="5705280"/>
            <a:ext cx="1198800" cy="196560"/>
          </a:xfrm>
          <a:prstGeom prst="rect">
            <a:avLst/>
          </a:prstGeom>
          <a:ln w="0">
            <a:noFill/>
          </a:ln>
        </p:spPr>
      </p:pic>
      <p:sp>
        <p:nvSpPr>
          <p:cNvPr id="84" name="Google Shape;24;p3"/>
          <p:cNvSpPr/>
          <p:nvPr/>
        </p:nvSpPr>
        <p:spPr>
          <a:xfrm>
            <a:off x="10194480" y="-1997280"/>
            <a:ext cx="3989520" cy="3989520"/>
          </a:xfrm>
          <a:prstGeom prst="pie">
            <a:avLst>
              <a:gd name="adj1" fmla="val 5396160"/>
              <a:gd name="adj2" fmla="val 10809062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</a:t>
            </a:r>
            <a:r>
              <a:rPr b="0" lang="en-US" sz="4400" spc="-1" strike="noStrike">
                <a:latin typeface="Arial"/>
              </a:rPr>
              <a:t>the title text </a:t>
            </a:r>
            <a:r>
              <a:rPr b="0" lang="en-US" sz="4400" spc="-1" strike="noStrike">
                <a:latin typeface="Arial"/>
              </a:rPr>
              <a:t>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8;p3"/>
          <p:cNvSpPr/>
          <p:nvPr/>
        </p:nvSpPr>
        <p:spPr>
          <a:xfrm>
            <a:off x="0" y="6773040"/>
            <a:ext cx="12186720" cy="79560"/>
          </a:xfrm>
          <a:prstGeom prst="rect">
            <a:avLst/>
          </a:prstGeom>
          <a:solidFill>
            <a:srgbClr val="aac5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24" name="Google Shape;23;p3" descr=""/>
          <p:cNvPicPr/>
          <p:nvPr/>
        </p:nvPicPr>
        <p:blipFill>
          <a:blip r:embed="rId2"/>
          <a:stretch/>
        </p:blipFill>
        <p:spPr>
          <a:xfrm rot="16200000">
            <a:off x="-167400" y="5705280"/>
            <a:ext cx="1198800" cy="196560"/>
          </a:xfrm>
          <a:prstGeom prst="rect">
            <a:avLst/>
          </a:prstGeom>
          <a:ln w="0">
            <a:noFill/>
          </a:ln>
        </p:spPr>
      </p:pic>
      <p:sp>
        <p:nvSpPr>
          <p:cNvPr id="125" name="Google Shape;24;p3"/>
          <p:cNvSpPr/>
          <p:nvPr/>
        </p:nvSpPr>
        <p:spPr>
          <a:xfrm>
            <a:off x="10194480" y="-1997280"/>
            <a:ext cx="3989520" cy="3989520"/>
          </a:xfrm>
          <a:prstGeom prst="pie">
            <a:avLst>
              <a:gd name="adj1" fmla="val 5396160"/>
              <a:gd name="adj2" fmla="val 10809062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  <p:sldLayoutId id="2147483697" r:id="rId12"/>
    <p:sldLayoutId id="2147483698" r:id="rId13"/>
    <p:sldLayoutId id="2147483699" r:id="rId1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8;p3"/>
          <p:cNvSpPr/>
          <p:nvPr/>
        </p:nvSpPr>
        <p:spPr>
          <a:xfrm>
            <a:off x="0" y="6773040"/>
            <a:ext cx="12186720" cy="79560"/>
          </a:xfrm>
          <a:prstGeom prst="rect">
            <a:avLst/>
          </a:prstGeom>
          <a:solidFill>
            <a:srgbClr val="aac5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65" name="Google Shape;23;p3" descr=""/>
          <p:cNvPicPr/>
          <p:nvPr/>
        </p:nvPicPr>
        <p:blipFill>
          <a:blip r:embed="rId2"/>
          <a:stretch/>
        </p:blipFill>
        <p:spPr>
          <a:xfrm rot="16200000">
            <a:off x="-167400" y="5705280"/>
            <a:ext cx="1198800" cy="196560"/>
          </a:xfrm>
          <a:prstGeom prst="rect">
            <a:avLst/>
          </a:prstGeom>
          <a:ln w="0">
            <a:noFill/>
          </a:ln>
        </p:spPr>
      </p:pic>
      <p:sp>
        <p:nvSpPr>
          <p:cNvPr id="166" name="Google Shape;24;p3"/>
          <p:cNvSpPr/>
          <p:nvPr/>
        </p:nvSpPr>
        <p:spPr>
          <a:xfrm>
            <a:off x="10194480" y="-1997280"/>
            <a:ext cx="3989520" cy="3989520"/>
          </a:xfrm>
          <a:prstGeom prst="pie">
            <a:avLst>
              <a:gd name="adj1" fmla="val 5396160"/>
              <a:gd name="adj2" fmla="val 10809062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18;p3"/>
          <p:cNvSpPr/>
          <p:nvPr/>
        </p:nvSpPr>
        <p:spPr>
          <a:xfrm>
            <a:off x="0" y="6773040"/>
            <a:ext cx="12186720" cy="79560"/>
          </a:xfrm>
          <a:prstGeom prst="rect">
            <a:avLst/>
          </a:prstGeom>
          <a:solidFill>
            <a:srgbClr val="aac5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06" name="Google Shape;23;p3" descr=""/>
          <p:cNvPicPr/>
          <p:nvPr/>
        </p:nvPicPr>
        <p:blipFill>
          <a:blip r:embed="rId2"/>
          <a:stretch/>
        </p:blipFill>
        <p:spPr>
          <a:xfrm rot="16200000">
            <a:off x="-167400" y="5705280"/>
            <a:ext cx="1198800" cy="196560"/>
          </a:xfrm>
          <a:prstGeom prst="rect">
            <a:avLst/>
          </a:prstGeom>
          <a:ln w="0">
            <a:noFill/>
          </a:ln>
        </p:spPr>
      </p:pic>
      <p:sp>
        <p:nvSpPr>
          <p:cNvPr id="207" name="Google Shape;24;p3"/>
          <p:cNvSpPr/>
          <p:nvPr/>
        </p:nvSpPr>
        <p:spPr>
          <a:xfrm>
            <a:off x="10194480" y="-1997280"/>
            <a:ext cx="3989520" cy="3989520"/>
          </a:xfrm>
          <a:prstGeom prst="pie">
            <a:avLst>
              <a:gd name="adj1" fmla="val 5396160"/>
              <a:gd name="adj2" fmla="val 10809062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  <p:sldLayoutId id="2147483720" r:id="rId9"/>
    <p:sldLayoutId id="2147483721" r:id="rId10"/>
    <p:sldLayoutId id="2147483722" r:id="rId11"/>
    <p:sldLayoutId id="2147483723" r:id="rId12"/>
    <p:sldLayoutId id="2147483724" r:id="rId13"/>
    <p:sldLayoutId id="2147483725" r:id="rId14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18;p3"/>
          <p:cNvSpPr/>
          <p:nvPr/>
        </p:nvSpPr>
        <p:spPr>
          <a:xfrm>
            <a:off x="0" y="6773040"/>
            <a:ext cx="12186720" cy="79560"/>
          </a:xfrm>
          <a:prstGeom prst="rect">
            <a:avLst/>
          </a:prstGeom>
          <a:solidFill>
            <a:srgbClr val="aac5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47" name="Google Shape;23;p3" descr=""/>
          <p:cNvPicPr/>
          <p:nvPr/>
        </p:nvPicPr>
        <p:blipFill>
          <a:blip r:embed="rId2"/>
          <a:stretch/>
        </p:blipFill>
        <p:spPr>
          <a:xfrm rot="16200000">
            <a:off x="-167400" y="5705280"/>
            <a:ext cx="1198800" cy="196560"/>
          </a:xfrm>
          <a:prstGeom prst="rect">
            <a:avLst/>
          </a:prstGeom>
          <a:ln w="0">
            <a:noFill/>
          </a:ln>
        </p:spPr>
      </p:pic>
      <p:sp>
        <p:nvSpPr>
          <p:cNvPr id="248" name="Google Shape;24;p3"/>
          <p:cNvSpPr/>
          <p:nvPr/>
        </p:nvSpPr>
        <p:spPr>
          <a:xfrm>
            <a:off x="10194480" y="-1997280"/>
            <a:ext cx="3989520" cy="3989520"/>
          </a:xfrm>
          <a:prstGeom prst="pie">
            <a:avLst>
              <a:gd name="adj1" fmla="val 5396160"/>
              <a:gd name="adj2" fmla="val 10809062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3"/>
    <p:sldLayoutId id="2147483728" r:id="rId4"/>
    <p:sldLayoutId id="2147483729" r:id="rId5"/>
    <p:sldLayoutId id="2147483730" r:id="rId6"/>
    <p:sldLayoutId id="2147483731" r:id="rId7"/>
    <p:sldLayoutId id="2147483732" r:id="rId8"/>
    <p:sldLayoutId id="2147483733" r:id="rId9"/>
    <p:sldLayoutId id="2147483734" r:id="rId10"/>
    <p:sldLayoutId id="2147483735" r:id="rId11"/>
    <p:sldLayoutId id="2147483736" r:id="rId12"/>
    <p:sldLayoutId id="2147483737" r:id="rId13"/>
    <p:sldLayoutId id="2147483738" r:id="rId14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18;p3"/>
          <p:cNvSpPr/>
          <p:nvPr/>
        </p:nvSpPr>
        <p:spPr>
          <a:xfrm>
            <a:off x="0" y="6773040"/>
            <a:ext cx="12186720" cy="79560"/>
          </a:xfrm>
          <a:prstGeom prst="rect">
            <a:avLst/>
          </a:prstGeom>
          <a:solidFill>
            <a:srgbClr val="aac5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88" name="Google Shape;23;p3" descr=""/>
          <p:cNvPicPr/>
          <p:nvPr/>
        </p:nvPicPr>
        <p:blipFill>
          <a:blip r:embed="rId2"/>
          <a:stretch/>
        </p:blipFill>
        <p:spPr>
          <a:xfrm rot="16200000">
            <a:off x="-167400" y="5705280"/>
            <a:ext cx="1198800" cy="196560"/>
          </a:xfrm>
          <a:prstGeom prst="rect">
            <a:avLst/>
          </a:prstGeom>
          <a:ln w="0">
            <a:noFill/>
          </a:ln>
        </p:spPr>
      </p:pic>
      <p:sp>
        <p:nvSpPr>
          <p:cNvPr id="289" name="Google Shape;24;p3"/>
          <p:cNvSpPr/>
          <p:nvPr/>
        </p:nvSpPr>
        <p:spPr>
          <a:xfrm>
            <a:off x="10194480" y="-1997280"/>
            <a:ext cx="3989520" cy="3989520"/>
          </a:xfrm>
          <a:prstGeom prst="pie">
            <a:avLst>
              <a:gd name="adj1" fmla="val 5396160"/>
              <a:gd name="adj2" fmla="val 10809062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  <p:sldLayoutId id="2147483749" r:id="rId12"/>
    <p:sldLayoutId id="2147483750" r:id="rId13"/>
    <p:sldLayoutId id="2147483751" r:id="rId14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18;p3"/>
          <p:cNvSpPr/>
          <p:nvPr/>
        </p:nvSpPr>
        <p:spPr>
          <a:xfrm>
            <a:off x="0" y="6773040"/>
            <a:ext cx="12186720" cy="79560"/>
          </a:xfrm>
          <a:prstGeom prst="rect">
            <a:avLst/>
          </a:prstGeom>
          <a:solidFill>
            <a:srgbClr val="aac5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329" name="Google Shape;23;p3" descr=""/>
          <p:cNvPicPr/>
          <p:nvPr/>
        </p:nvPicPr>
        <p:blipFill>
          <a:blip r:embed="rId2"/>
          <a:stretch/>
        </p:blipFill>
        <p:spPr>
          <a:xfrm rot="16200000">
            <a:off x="-167400" y="5705280"/>
            <a:ext cx="1198800" cy="196560"/>
          </a:xfrm>
          <a:prstGeom prst="rect">
            <a:avLst/>
          </a:prstGeom>
          <a:ln w="0">
            <a:noFill/>
          </a:ln>
        </p:spPr>
      </p:pic>
      <p:sp>
        <p:nvSpPr>
          <p:cNvPr id="330" name="Google Shape;24;p3"/>
          <p:cNvSpPr/>
          <p:nvPr/>
        </p:nvSpPr>
        <p:spPr>
          <a:xfrm>
            <a:off x="10194480" y="-1997280"/>
            <a:ext cx="3989520" cy="3989520"/>
          </a:xfrm>
          <a:prstGeom prst="pie">
            <a:avLst>
              <a:gd name="adj1" fmla="val 5396160"/>
              <a:gd name="adj2" fmla="val 10809062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  <p:sldLayoutId id="2147483762" r:id="rId12"/>
    <p:sldLayoutId id="2147483763" r:id="rId13"/>
    <p:sldLayoutId id="2147483764" r:id="rId14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18;p3"/>
          <p:cNvSpPr/>
          <p:nvPr/>
        </p:nvSpPr>
        <p:spPr>
          <a:xfrm>
            <a:off x="0" y="6773040"/>
            <a:ext cx="12186720" cy="79560"/>
          </a:xfrm>
          <a:prstGeom prst="rect">
            <a:avLst/>
          </a:prstGeom>
          <a:solidFill>
            <a:srgbClr val="aac5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370" name="Google Shape;23;p3" descr=""/>
          <p:cNvPicPr/>
          <p:nvPr/>
        </p:nvPicPr>
        <p:blipFill>
          <a:blip r:embed="rId2"/>
          <a:stretch/>
        </p:blipFill>
        <p:spPr>
          <a:xfrm rot="16200000">
            <a:off x="-167400" y="5705280"/>
            <a:ext cx="1198800" cy="196560"/>
          </a:xfrm>
          <a:prstGeom prst="rect">
            <a:avLst/>
          </a:prstGeom>
          <a:ln w="0">
            <a:noFill/>
          </a:ln>
        </p:spPr>
      </p:pic>
      <p:sp>
        <p:nvSpPr>
          <p:cNvPr id="371" name="Google Shape;24;p3"/>
          <p:cNvSpPr/>
          <p:nvPr/>
        </p:nvSpPr>
        <p:spPr>
          <a:xfrm>
            <a:off x="10194480" y="-1997280"/>
            <a:ext cx="3989520" cy="3989520"/>
          </a:xfrm>
          <a:prstGeom prst="pie">
            <a:avLst>
              <a:gd name="adj1" fmla="val 5396160"/>
              <a:gd name="adj2" fmla="val 10809062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3"/>
    <p:sldLayoutId id="2147483767" r:id="rId4"/>
    <p:sldLayoutId id="2147483768" r:id="rId5"/>
    <p:sldLayoutId id="2147483769" r:id="rId6"/>
    <p:sldLayoutId id="2147483770" r:id="rId7"/>
    <p:sldLayoutId id="2147483771" r:id="rId8"/>
    <p:sldLayoutId id="2147483772" r:id="rId9"/>
    <p:sldLayoutId id="2147483773" r:id="rId10"/>
    <p:sldLayoutId id="2147483774" r:id="rId11"/>
    <p:sldLayoutId id="2147483775" r:id="rId12"/>
    <p:sldLayoutId id="2147483776" r:id="rId13"/>
    <p:sldLayoutId id="2147483777" r:id="rId14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18;p3"/>
          <p:cNvSpPr/>
          <p:nvPr/>
        </p:nvSpPr>
        <p:spPr>
          <a:xfrm>
            <a:off x="0" y="6773040"/>
            <a:ext cx="12186720" cy="79560"/>
          </a:xfrm>
          <a:prstGeom prst="rect">
            <a:avLst/>
          </a:prstGeom>
          <a:solidFill>
            <a:srgbClr val="aac5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411" name="Google Shape;23;p3" descr=""/>
          <p:cNvPicPr/>
          <p:nvPr/>
        </p:nvPicPr>
        <p:blipFill>
          <a:blip r:embed="rId2"/>
          <a:stretch/>
        </p:blipFill>
        <p:spPr>
          <a:xfrm rot="16200000">
            <a:off x="-167400" y="5705280"/>
            <a:ext cx="1198800" cy="196560"/>
          </a:xfrm>
          <a:prstGeom prst="rect">
            <a:avLst/>
          </a:prstGeom>
          <a:ln w="0">
            <a:noFill/>
          </a:ln>
        </p:spPr>
      </p:pic>
      <p:sp>
        <p:nvSpPr>
          <p:cNvPr id="412" name="Google Shape;24;p3"/>
          <p:cNvSpPr/>
          <p:nvPr/>
        </p:nvSpPr>
        <p:spPr>
          <a:xfrm>
            <a:off x="10194480" y="-1997280"/>
            <a:ext cx="3989520" cy="3989520"/>
          </a:xfrm>
          <a:prstGeom prst="pie">
            <a:avLst>
              <a:gd name="adj1" fmla="val 5396160"/>
              <a:gd name="adj2" fmla="val 10809062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3"/>
    <p:sldLayoutId id="2147483780" r:id="rId4"/>
    <p:sldLayoutId id="2147483781" r:id="rId5"/>
    <p:sldLayoutId id="2147483782" r:id="rId6"/>
    <p:sldLayoutId id="2147483783" r:id="rId7"/>
    <p:sldLayoutId id="2147483784" r:id="rId8"/>
    <p:sldLayoutId id="2147483785" r:id="rId9"/>
    <p:sldLayoutId id="2147483786" r:id="rId10"/>
    <p:sldLayoutId id="2147483787" r:id="rId11"/>
    <p:sldLayoutId id="2147483788" r:id="rId12"/>
    <p:sldLayoutId id="2147483789" r:id="rId13"/>
    <p:sldLayoutId id="2147483790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49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3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7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9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3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3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7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TextBox 5"/>
          <p:cNvSpPr/>
          <p:nvPr/>
        </p:nvSpPr>
        <p:spPr>
          <a:xfrm>
            <a:off x="7534080" y="907560"/>
            <a:ext cx="248832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i="1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Data Science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58" name="Content Placeholder 2"/>
          <p:cNvSpPr/>
          <p:nvPr/>
        </p:nvSpPr>
        <p:spPr>
          <a:xfrm>
            <a:off x="4668120" y="4500360"/>
            <a:ext cx="6395400" cy="121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algn="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Student: </a:t>
            </a:r>
            <a:r>
              <a:rPr b="0" i="1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Mikhail Zybin</a:t>
            </a:r>
            <a:endParaRPr b="0" lang="en-US" sz="2000" spc="-1" strike="noStrike">
              <a:latin typeface="Arial"/>
            </a:endParaRPr>
          </a:p>
          <a:p>
            <a:pPr marL="457200" indent="-228600" algn="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Research Advisor: </a:t>
            </a:r>
            <a:r>
              <a:rPr b="0" i="1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Philipp Khaitovich</a:t>
            </a:r>
            <a:endParaRPr b="0" lang="en-US" sz="2000" spc="-1" strike="noStrike">
              <a:latin typeface="Arial"/>
            </a:endParaRPr>
          </a:p>
          <a:p>
            <a:pPr marL="457200" indent="-228600" algn="r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  <a:p>
            <a:pPr marL="457200" indent="-22860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6600" spc="-1" strike="noStrike">
              <a:latin typeface="Arial"/>
            </a:endParaRPr>
          </a:p>
          <a:p>
            <a:pPr marL="457200" indent="-22860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6600" spc="-1" strike="noStrike">
              <a:latin typeface="Arial"/>
            </a:endParaRPr>
          </a:p>
          <a:p>
            <a:pPr marL="457200" indent="-22860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6600" spc="-1" strike="noStrike">
              <a:latin typeface="Arial"/>
            </a:endParaRPr>
          </a:p>
          <a:p>
            <a:pPr marL="457200" indent="-22860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6600" spc="-1" strike="noStrike">
              <a:latin typeface="Arial"/>
            </a:endParaRPr>
          </a:p>
          <a:p>
            <a:pPr marL="457200" indent="-22860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6600" spc="-1" strike="noStrike">
              <a:latin typeface="Arial"/>
            </a:endParaRPr>
          </a:p>
          <a:p>
            <a:pPr marL="457200" indent="-22860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6600" spc="-1" strike="noStrike">
              <a:latin typeface="Arial"/>
            </a:endParaRPr>
          </a:p>
        </p:txBody>
      </p:sp>
      <p:sp>
        <p:nvSpPr>
          <p:cNvPr id="459" name="Subtitle 1"/>
          <p:cNvSpPr/>
          <p:nvPr/>
        </p:nvSpPr>
        <p:spPr>
          <a:xfrm>
            <a:off x="3204720" y="5938200"/>
            <a:ext cx="6395400" cy="33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50000"/>
          </a:bodyPr>
          <a:p>
            <a:pPr algn="ctr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595959"/>
                </a:solidFill>
                <a:latin typeface="Arial Unicode MS"/>
                <a:ea typeface="DejaVu Sans"/>
              </a:rPr>
              <a:t>April, 2023</a:t>
            </a:r>
            <a:endParaRPr b="0" lang="en-US" sz="3200" spc="-1" strike="noStrike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799"/>
              </a:spcBef>
              <a:buNone/>
              <a:tabLst>
                <a:tab algn="l" pos="0"/>
              </a:tabLst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60" name="TextBox 1"/>
          <p:cNvSpPr/>
          <p:nvPr/>
        </p:nvSpPr>
        <p:spPr>
          <a:xfrm>
            <a:off x="8022960" y="158400"/>
            <a:ext cx="378000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Приложение 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4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/ Appendix 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4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61" name=""/>
          <p:cNvSpPr/>
          <p:nvPr/>
        </p:nvSpPr>
        <p:spPr>
          <a:xfrm>
            <a:off x="-652680" y="1600200"/>
            <a:ext cx="13449600" cy="23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575"/>
              </a:spcBef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Machine Learning Based Analysis </a:t>
            </a:r>
            <a:endParaRPr b="0" lang="en-US" sz="4000" spc="-1" strike="noStrike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575"/>
              </a:spcBef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of Gene Expression and Lipid Composition </a:t>
            </a:r>
            <a:endParaRPr b="0" lang="en-US" sz="4000" spc="-1" strike="noStrike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575"/>
              </a:spcBef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of the Schizophrenia Brain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462" name=""/>
          <p:cNvSpPr/>
          <p:nvPr/>
        </p:nvSpPr>
        <p:spPr>
          <a:xfrm>
            <a:off x="11448000" y="6364800"/>
            <a:ext cx="77328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1/24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Title 1"/>
          <p:cNvSpPr/>
          <p:nvPr/>
        </p:nvSpPr>
        <p:spPr>
          <a:xfrm>
            <a:off x="844200" y="781560"/>
            <a:ext cx="10571760" cy="13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General problem / Introduction / </a:t>
            </a:r>
            <a:endParaRPr b="0" lang="en-US" sz="4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Background 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464" name="Content Placeholder 2"/>
          <p:cNvSpPr/>
          <p:nvPr/>
        </p:nvSpPr>
        <p:spPr>
          <a:xfrm>
            <a:off x="463320" y="2863800"/>
            <a:ext cx="9888840" cy="28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457200" indent="-216000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Schizophrenia</a:t>
            </a:r>
            <a:endParaRPr b="0" lang="en-US" sz="2800" spc="-1" strike="noStrike">
              <a:latin typeface="Arial"/>
            </a:endParaRPr>
          </a:p>
          <a:p>
            <a:pPr marL="457200" indent="-216000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psychiatric disorder with a convoluted etiology and a lifetime prevalence of 0.84%</a:t>
            </a:r>
            <a:endParaRPr b="0" lang="en-US" sz="2800" spc="-1" strike="noStrike">
              <a:latin typeface="Arial"/>
            </a:endParaRPr>
          </a:p>
          <a:p>
            <a:pPr marL="457200" indent="-216000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an interplay between genetic, epigenetic, and environmental risk factors is involved in SZ etiology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465" name="Slide Number Placeholder 1"/>
          <p:cNvSpPr/>
          <p:nvPr/>
        </p:nvSpPr>
        <p:spPr>
          <a:xfrm>
            <a:off x="10300680" y="6278040"/>
            <a:ext cx="1886040" cy="33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1200" spc="180" strike="noStrike" cap="all">
                <a:solidFill>
                  <a:srgbClr val="ff0000"/>
                </a:solidFill>
                <a:latin typeface="Arial"/>
                <a:ea typeface="DejaVu Sans"/>
              </a:rPr>
              <a:t>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66" name=""/>
          <p:cNvSpPr/>
          <p:nvPr/>
        </p:nvSpPr>
        <p:spPr>
          <a:xfrm>
            <a:off x="11448360" y="6365160"/>
            <a:ext cx="77328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2/24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Title 13"/>
          <p:cNvSpPr/>
          <p:nvPr/>
        </p:nvSpPr>
        <p:spPr>
          <a:xfrm>
            <a:off x="844200" y="781560"/>
            <a:ext cx="10571760" cy="13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General problem / Introduction / </a:t>
            </a:r>
            <a:endParaRPr b="0" lang="en-US" sz="4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Background 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468" name="Content Placeholder 14"/>
          <p:cNvSpPr/>
          <p:nvPr/>
        </p:nvSpPr>
        <p:spPr>
          <a:xfrm>
            <a:off x="463320" y="2863800"/>
            <a:ext cx="9888840" cy="28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4572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en-US" sz="2800" spc="-1" strike="noStrike">
              <a:latin typeface="Arial"/>
            </a:endParaRPr>
          </a:p>
        </p:txBody>
      </p:sp>
      <p:graphicFrame>
        <p:nvGraphicFramePr>
          <p:cNvPr id="469" name=""/>
          <p:cNvGraphicFramePr/>
          <p:nvPr/>
        </p:nvGraphicFramePr>
        <p:xfrm>
          <a:off x="914400" y="2919600"/>
          <a:ext cx="10304640" cy="1439280"/>
        </p:xfrm>
        <a:graphic>
          <a:graphicData uri="http://schemas.openxmlformats.org/drawingml/2006/table">
            <a:tbl>
              <a:tblPr/>
              <a:tblGrid>
                <a:gridCol w="3434040"/>
                <a:gridCol w="3434040"/>
                <a:gridCol w="3436920"/>
              </a:tblGrid>
              <a:tr h="71964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2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positive symptoms</a:t>
                      </a:r>
                      <a:endParaRPr b="0" lang="en-US" sz="2800" spc="-1" strike="noStrike"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2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negative symptoms</a:t>
                      </a:r>
                      <a:endParaRPr b="0" lang="en-US" sz="2800" spc="-1" strike="noStrike"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2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cognitive symptoms</a:t>
                      </a:r>
                      <a:endParaRPr b="0" lang="en-US" sz="2800" spc="-1" strike="noStrike"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720000"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2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delusions and hallucinations</a:t>
                      </a:r>
                      <a:endParaRPr b="0" lang="en-US" sz="2800" spc="-1" strike="noStrike"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2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loss of typical affective functions</a:t>
                      </a:r>
                      <a:endParaRPr b="0" lang="en-US" sz="2800" spc="-1" strike="noStrike"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en-US" sz="2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deﬁcits in attention and executive functioning</a:t>
                      </a:r>
                      <a:endParaRPr b="0" lang="en-US" sz="2800" spc="-1" strike="noStrike">
                        <a:latin typeface="Arial"/>
                      </a:endParaRPr>
                    </a:p>
                  </a:txBody>
                  <a:tcPr anchor="t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</a:tbl>
          </a:graphicData>
        </a:graphic>
      </p:graphicFrame>
      <p:sp>
        <p:nvSpPr>
          <p:cNvPr id="470" name=""/>
          <p:cNvSpPr/>
          <p:nvPr/>
        </p:nvSpPr>
        <p:spPr>
          <a:xfrm>
            <a:off x="11448360" y="6365160"/>
            <a:ext cx="77328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3/24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Title 17"/>
          <p:cNvSpPr/>
          <p:nvPr/>
        </p:nvSpPr>
        <p:spPr>
          <a:xfrm>
            <a:off x="844200" y="781560"/>
            <a:ext cx="10571760" cy="13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General problem / Introduction / </a:t>
            </a:r>
            <a:endParaRPr b="0" lang="en-US" sz="4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Background 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472" name="Content Placeholder 18"/>
          <p:cNvSpPr/>
          <p:nvPr/>
        </p:nvSpPr>
        <p:spPr>
          <a:xfrm>
            <a:off x="967320" y="2503800"/>
            <a:ext cx="9888840" cy="28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Lipid is any of a diverse group of organic compounds including fats, oils, hormones, and certain components of membranes that are grouped together because they do not interact appreciably with water.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</p:txBody>
      </p:sp>
      <p:sp>
        <p:nvSpPr>
          <p:cNvPr id="473" name=""/>
          <p:cNvSpPr/>
          <p:nvPr/>
        </p:nvSpPr>
        <p:spPr>
          <a:xfrm>
            <a:off x="11448360" y="6365160"/>
            <a:ext cx="77328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4/24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Title 18"/>
          <p:cNvSpPr/>
          <p:nvPr/>
        </p:nvSpPr>
        <p:spPr>
          <a:xfrm>
            <a:off x="844200" y="781560"/>
            <a:ext cx="10571760" cy="13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General problem / Introduction / </a:t>
            </a:r>
            <a:endParaRPr b="0" lang="en-US" sz="4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Background 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475" name="Content Placeholder 19"/>
          <p:cNvSpPr/>
          <p:nvPr/>
        </p:nvSpPr>
        <p:spPr>
          <a:xfrm>
            <a:off x="427320" y="2503800"/>
            <a:ext cx="9888840" cy="28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457200" indent="-216000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Genes: structural and functional units of DNA</a:t>
            </a:r>
            <a:endParaRPr b="0" lang="en-US" sz="2800" spc="-1" strike="noStrike">
              <a:latin typeface="Arial"/>
            </a:endParaRPr>
          </a:p>
          <a:p>
            <a:pPr marL="457200" indent="-216000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Gene expression – process of reading the information from the gene and building a corresponding protein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</p:txBody>
      </p:sp>
      <p:sp>
        <p:nvSpPr>
          <p:cNvPr id="476" name=""/>
          <p:cNvSpPr/>
          <p:nvPr/>
        </p:nvSpPr>
        <p:spPr>
          <a:xfrm>
            <a:off x="11448360" y="6365160"/>
            <a:ext cx="77328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5/24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Title 6"/>
          <p:cNvSpPr/>
          <p:nvPr/>
        </p:nvSpPr>
        <p:spPr>
          <a:xfrm>
            <a:off x="844200" y="781560"/>
            <a:ext cx="10571760" cy="13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General problem / Introduction / </a:t>
            </a:r>
            <a:endParaRPr b="0" lang="en-US" sz="4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Background 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478" name="Content Placeholder 7"/>
          <p:cNvSpPr/>
          <p:nvPr/>
        </p:nvSpPr>
        <p:spPr>
          <a:xfrm>
            <a:off x="463320" y="2863800"/>
            <a:ext cx="9888840" cy="28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Different brain regions have different sets of functions and processes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4572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no exact detailed picture about what is happening on a molecular level in various brain regions of people with SZ</a:t>
            </a:r>
            <a:endParaRPr b="0" lang="en-US" sz="2800" spc="-1" strike="noStrike">
              <a:latin typeface="Arial"/>
            </a:endParaRPr>
          </a:p>
          <a:p>
            <a:pPr marL="457200" indent="-22860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</p:txBody>
      </p:sp>
      <p:sp>
        <p:nvSpPr>
          <p:cNvPr id="479" name=""/>
          <p:cNvSpPr/>
          <p:nvPr/>
        </p:nvSpPr>
        <p:spPr>
          <a:xfrm>
            <a:off x="11448360" y="6365160"/>
            <a:ext cx="77328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6/24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Title 16"/>
          <p:cNvSpPr/>
          <p:nvPr/>
        </p:nvSpPr>
        <p:spPr>
          <a:xfrm>
            <a:off x="844200" y="781560"/>
            <a:ext cx="10571760" cy="13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General problem / Introduction / </a:t>
            </a:r>
            <a:endParaRPr b="0" lang="en-US" sz="4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Background 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481" name="Content Placeholder 17"/>
          <p:cNvSpPr/>
          <p:nvPr/>
        </p:nvSpPr>
        <p:spPr>
          <a:xfrm>
            <a:off x="463320" y="2863800"/>
            <a:ext cx="7079400" cy="287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457200">
              <a:lnSpc>
                <a:spcPct val="90000"/>
              </a:lnSpc>
              <a:buNone/>
              <a:tabLst>
                <a:tab algn="l" pos="0"/>
              </a:tabLst>
            </a:pPr>
            <a:r>
              <a:rPr b="0" i="1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A Brodmann area is a region of the cerebral cortex, in the human or other primate brain, defined by its cytoarchitecture, or histological structure and organization of cells</a:t>
            </a:r>
            <a:endParaRPr b="0" lang="en-US" sz="2800" spc="-1" strike="noStrike">
              <a:latin typeface="Arial"/>
            </a:endParaRPr>
          </a:p>
        </p:txBody>
      </p:sp>
      <p:pic>
        <p:nvPicPr>
          <p:cNvPr id="482" name="" descr=""/>
          <p:cNvPicPr/>
          <p:nvPr/>
        </p:nvPicPr>
        <p:blipFill>
          <a:blip r:embed="rId1"/>
          <a:stretch/>
        </p:blipFill>
        <p:spPr>
          <a:xfrm>
            <a:off x="8229600" y="2000880"/>
            <a:ext cx="3099600" cy="3941640"/>
          </a:xfrm>
          <a:prstGeom prst="rect">
            <a:avLst/>
          </a:prstGeom>
          <a:ln w="0">
            <a:noFill/>
          </a:ln>
        </p:spPr>
      </p:pic>
      <p:sp>
        <p:nvSpPr>
          <p:cNvPr id="483" name=""/>
          <p:cNvSpPr/>
          <p:nvPr/>
        </p:nvSpPr>
        <p:spPr>
          <a:xfrm>
            <a:off x="11448360" y="6365160"/>
            <a:ext cx="77328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7/24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Title 5"/>
          <p:cNvSpPr/>
          <p:nvPr/>
        </p:nvSpPr>
        <p:spPr>
          <a:xfrm>
            <a:off x="973080" y="702360"/>
            <a:ext cx="828972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Aim and objectives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485" name="Content Placeholder 6"/>
          <p:cNvSpPr/>
          <p:nvPr/>
        </p:nvSpPr>
        <p:spPr>
          <a:xfrm>
            <a:off x="454320" y="1915920"/>
            <a:ext cx="10820520" cy="439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97000"/>
          </a:bodyPr>
          <a:p>
            <a:pPr marL="457200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The goal of this research is to find out what genes, what lipids in what brain regions are most relevant to schizophrenia. </a:t>
            </a:r>
            <a:endParaRPr b="0" lang="en-US" sz="2800" spc="-1" strike="noStrike">
              <a:latin typeface="Arial"/>
            </a:endParaRPr>
          </a:p>
          <a:p>
            <a:pPr marL="457200" indent="-228600" algn="just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457200" indent="-228600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identify the most relevant regions, genes and lipids from the available data </a:t>
            </a:r>
            <a:endParaRPr b="0" lang="en-US" sz="2800" spc="-1" strike="noStrike">
              <a:latin typeface="Arial"/>
            </a:endParaRPr>
          </a:p>
          <a:p>
            <a:pPr marL="457200" indent="-228600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potential future experiments on molecular mechanisms of SZ would be able to rely only on a small subset of regions, genes and lipids</a:t>
            </a:r>
            <a:endParaRPr b="0" lang="en-US" sz="2800" spc="-1" strike="noStrike">
              <a:latin typeface="Arial"/>
            </a:endParaRPr>
          </a:p>
          <a:p>
            <a:pPr marL="457200" indent="-228600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we want to see whether certain genes or lipids contain most of the necessary signal that distinguishes healthy brains from SZ brains</a:t>
            </a:r>
            <a:endParaRPr b="0" lang="en-US" sz="2800" spc="-1" strike="noStrike">
              <a:latin typeface="Arial"/>
            </a:endParaRPr>
          </a:p>
          <a:p>
            <a:pPr marL="457200" indent="-228600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457200" indent="-228600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</p:txBody>
      </p:sp>
      <p:sp>
        <p:nvSpPr>
          <p:cNvPr id="486" name=""/>
          <p:cNvSpPr/>
          <p:nvPr/>
        </p:nvSpPr>
        <p:spPr>
          <a:xfrm>
            <a:off x="11448360" y="6365160"/>
            <a:ext cx="77328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8/24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"/>
          <p:cNvSpPr/>
          <p:nvPr/>
        </p:nvSpPr>
        <p:spPr>
          <a:xfrm>
            <a:off x="844200" y="1902600"/>
            <a:ext cx="10356120" cy="48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Lipids and gene expressions from Vladimir Zelman Center for Neurobiology and Brain Rehabilitation, Skoltech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8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the brains from 4 individuals diagnosed with paranoid schizophrenia and 4 individuals without this diagnosis have been collected postmortem</a:t>
            </a:r>
            <a:endParaRPr b="0" lang="en-US" sz="28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bulk RNA-seq for 14179 genes was performed in 35 different regions of each brain</a:t>
            </a:r>
            <a:endParaRPr b="0" lang="en-US" sz="28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high performance liquid chromatography coupled with mass spectrometry for 347 lipids was performed on 50 different regions in each brain 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800" spc="-1" strike="noStrike">
              <a:latin typeface="Arial"/>
            </a:endParaRPr>
          </a:p>
        </p:txBody>
      </p:sp>
      <p:sp>
        <p:nvSpPr>
          <p:cNvPr id="488" name="Title 12"/>
          <p:cNvSpPr/>
          <p:nvPr/>
        </p:nvSpPr>
        <p:spPr>
          <a:xfrm>
            <a:off x="832680" y="718560"/>
            <a:ext cx="828972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Dataset Description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489" name="Content Placeholder 13"/>
          <p:cNvSpPr/>
          <p:nvPr/>
        </p:nvSpPr>
        <p:spPr>
          <a:xfrm>
            <a:off x="454320" y="2444400"/>
            <a:ext cx="5259600" cy="30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0" name=""/>
          <p:cNvSpPr/>
          <p:nvPr/>
        </p:nvSpPr>
        <p:spPr>
          <a:xfrm>
            <a:off x="11448360" y="6365160"/>
            <a:ext cx="77328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9/24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"/>
          <p:cNvSpPr/>
          <p:nvPr/>
        </p:nvSpPr>
        <p:spPr>
          <a:xfrm>
            <a:off x="844200" y="1902600"/>
            <a:ext cx="10356120" cy="48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Another lipid dataset from Vladimir Zelman Center for Neurobiology and Brain Rehabilitation, Skoltech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8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the brains from 12 individuals diagnosed with paranoid schizophrenia and 12 individuals without this diagnosis have been collected postmortem</a:t>
            </a:r>
            <a:endParaRPr b="0" lang="en-US" sz="28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high performance liquid chromatography coupled with mass spectrometry for 445 lipids was performed on 4 different regions in each brain 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800" spc="-1" strike="noStrike">
              <a:latin typeface="Arial"/>
            </a:endParaRPr>
          </a:p>
        </p:txBody>
      </p:sp>
      <p:sp>
        <p:nvSpPr>
          <p:cNvPr id="492" name="Content Placeholder 15"/>
          <p:cNvSpPr/>
          <p:nvPr/>
        </p:nvSpPr>
        <p:spPr>
          <a:xfrm>
            <a:off x="454320" y="2444400"/>
            <a:ext cx="5259600" cy="30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3" name=""/>
          <p:cNvSpPr/>
          <p:nvPr/>
        </p:nvSpPr>
        <p:spPr>
          <a:xfrm>
            <a:off x="11304360" y="6365160"/>
            <a:ext cx="94248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10/24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94" name="Title 20"/>
          <p:cNvSpPr/>
          <p:nvPr/>
        </p:nvSpPr>
        <p:spPr>
          <a:xfrm>
            <a:off x="832680" y="776160"/>
            <a:ext cx="828972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Dataset Description</a:t>
            </a:r>
            <a:endParaRPr b="0" lang="en-US" sz="4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"/>
          <p:cNvSpPr/>
          <p:nvPr/>
        </p:nvSpPr>
        <p:spPr>
          <a:xfrm>
            <a:off x="844200" y="2046600"/>
            <a:ext cx="10356120" cy="48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External RNA-seq dataset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8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anterior cingulate cortex</a:t>
            </a:r>
            <a:endParaRPr b="0" lang="en-US" sz="28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dorsolateral prefrontal cortex </a:t>
            </a:r>
            <a:endParaRPr b="0" lang="en-US" sz="2800" spc="-1" strike="noStrike"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nucleus accumbens </a:t>
            </a: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from three groups of 24 patients each diagnosed with schizophrenia, bipolar disorder, or major depressive disorder, and from 24 control subjects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496" name="Content Placeholder 9"/>
          <p:cNvSpPr/>
          <p:nvPr/>
        </p:nvSpPr>
        <p:spPr>
          <a:xfrm>
            <a:off x="454320" y="2444400"/>
            <a:ext cx="5259600" cy="30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7" name=""/>
          <p:cNvSpPr/>
          <p:nvPr/>
        </p:nvSpPr>
        <p:spPr>
          <a:xfrm>
            <a:off x="11304720" y="6365520"/>
            <a:ext cx="94248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11/24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98" name="Title 8"/>
          <p:cNvSpPr/>
          <p:nvPr/>
        </p:nvSpPr>
        <p:spPr>
          <a:xfrm>
            <a:off x="832680" y="776160"/>
            <a:ext cx="828972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Dataset Description</a:t>
            </a:r>
            <a:endParaRPr b="0" lang="en-US" sz="4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Title 1"/>
          <p:cNvSpPr/>
          <p:nvPr/>
        </p:nvSpPr>
        <p:spPr>
          <a:xfrm>
            <a:off x="832680" y="1150560"/>
            <a:ext cx="828972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Methods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500" name="Content Placeholder 2"/>
          <p:cNvSpPr/>
          <p:nvPr/>
        </p:nvSpPr>
        <p:spPr>
          <a:xfrm>
            <a:off x="454320" y="2444400"/>
            <a:ext cx="10293120" cy="30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457200" algn="just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Data Visualization</a:t>
            </a:r>
            <a:endParaRPr b="0" lang="en-US" sz="2800" spc="-1" strike="noStrike">
              <a:latin typeface="Arial"/>
            </a:endParaRPr>
          </a:p>
          <a:p>
            <a:pPr marL="457200" algn="just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457200" algn="just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PCA</a:t>
            </a:r>
            <a:endParaRPr b="0" lang="en-US" sz="2800" spc="-1" strike="noStrike">
              <a:latin typeface="Arial"/>
            </a:endParaRPr>
          </a:p>
          <a:p>
            <a:pPr marL="457200" algn="just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457200" algn="just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</p:txBody>
      </p:sp>
      <p:sp>
        <p:nvSpPr>
          <p:cNvPr id="501" name=""/>
          <p:cNvSpPr/>
          <p:nvPr/>
        </p:nvSpPr>
        <p:spPr>
          <a:xfrm>
            <a:off x="11304720" y="6365520"/>
            <a:ext cx="94248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12/24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Title 2"/>
          <p:cNvSpPr/>
          <p:nvPr/>
        </p:nvSpPr>
        <p:spPr>
          <a:xfrm>
            <a:off x="832680" y="1150560"/>
            <a:ext cx="828972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Methods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503" name="Content Placeholder 3"/>
          <p:cNvSpPr/>
          <p:nvPr/>
        </p:nvSpPr>
        <p:spPr>
          <a:xfrm>
            <a:off x="450000" y="2444400"/>
            <a:ext cx="6706440" cy="30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457200" algn="just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Data Normalization</a:t>
            </a:r>
            <a:endParaRPr b="0" lang="en-US" sz="2800" spc="-1" strike="noStrike">
              <a:latin typeface="Arial"/>
            </a:endParaRPr>
          </a:p>
          <a:p>
            <a:pPr marL="457200" algn="just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457200" algn="just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for each brain we make the sum of all observations for each gene and lipid equal to zero</a:t>
            </a:r>
            <a:endParaRPr b="0" lang="en-US" sz="2800" spc="-1" strike="noStrike">
              <a:latin typeface="Arial"/>
            </a:endParaRPr>
          </a:p>
        </p:txBody>
      </p:sp>
      <p:pic>
        <p:nvPicPr>
          <p:cNvPr id="504" name="" descr=""/>
          <p:cNvPicPr/>
          <p:nvPr/>
        </p:nvPicPr>
        <p:blipFill>
          <a:blip r:embed="rId1"/>
          <a:stretch/>
        </p:blipFill>
        <p:spPr>
          <a:xfrm>
            <a:off x="7157520" y="1828800"/>
            <a:ext cx="4500000" cy="3371040"/>
          </a:xfrm>
          <a:prstGeom prst="rect">
            <a:avLst/>
          </a:prstGeom>
          <a:ln w="0">
            <a:noFill/>
          </a:ln>
        </p:spPr>
      </p:pic>
      <p:sp>
        <p:nvSpPr>
          <p:cNvPr id="505" name=""/>
          <p:cNvSpPr/>
          <p:nvPr/>
        </p:nvSpPr>
        <p:spPr>
          <a:xfrm>
            <a:off x="11304720" y="6365520"/>
            <a:ext cx="94248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13/24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Title 10"/>
          <p:cNvSpPr/>
          <p:nvPr/>
        </p:nvSpPr>
        <p:spPr>
          <a:xfrm>
            <a:off x="832680" y="1150560"/>
            <a:ext cx="828972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Methods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507" name="Content Placeholder 11"/>
          <p:cNvSpPr/>
          <p:nvPr/>
        </p:nvSpPr>
        <p:spPr>
          <a:xfrm>
            <a:off x="454320" y="2444400"/>
            <a:ext cx="10293120" cy="30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457200" algn="just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Data Augmentation</a:t>
            </a:r>
            <a:endParaRPr b="0" lang="en-US" sz="2800" spc="-1" strike="noStrike">
              <a:latin typeface="Arial"/>
            </a:endParaRPr>
          </a:p>
          <a:p>
            <a:pPr marL="457200" algn="just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457200" indent="-216000" algn="just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Estimate distributions</a:t>
            </a:r>
            <a:endParaRPr b="0" lang="en-US" sz="2800" spc="-1" strike="noStrike">
              <a:latin typeface="Arial"/>
            </a:endParaRPr>
          </a:p>
          <a:p>
            <a:pPr marL="457200" indent="-216000" algn="just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Assume independence</a:t>
            </a:r>
            <a:endParaRPr b="0" lang="en-US" sz="2800" spc="-1" strike="noStrike">
              <a:latin typeface="Arial"/>
            </a:endParaRPr>
          </a:p>
          <a:p>
            <a:pPr marL="457200" indent="-216000" algn="just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Generate data from the estimations</a:t>
            </a:r>
            <a:endParaRPr b="0" lang="en-US" sz="2800" spc="-1" strike="noStrike">
              <a:latin typeface="Arial"/>
            </a:endParaRPr>
          </a:p>
          <a:p>
            <a:pPr algn="just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algn="just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457200" indent="-216000" algn="just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Or add external dataset</a:t>
            </a:r>
            <a:endParaRPr b="0" lang="en-US" sz="2800" spc="-1" strike="noStrike">
              <a:latin typeface="Arial"/>
            </a:endParaRPr>
          </a:p>
        </p:txBody>
      </p:sp>
      <p:pic>
        <p:nvPicPr>
          <p:cNvPr id="508" name="" descr=""/>
          <p:cNvPicPr/>
          <p:nvPr/>
        </p:nvPicPr>
        <p:blipFill>
          <a:blip r:embed="rId1"/>
          <a:stretch/>
        </p:blipFill>
        <p:spPr>
          <a:xfrm>
            <a:off x="6629400" y="1613520"/>
            <a:ext cx="5062680" cy="3415320"/>
          </a:xfrm>
          <a:prstGeom prst="rect">
            <a:avLst/>
          </a:prstGeom>
          <a:ln w="0">
            <a:noFill/>
          </a:ln>
        </p:spPr>
      </p:pic>
      <p:sp>
        <p:nvSpPr>
          <p:cNvPr id="509" name=""/>
          <p:cNvSpPr/>
          <p:nvPr/>
        </p:nvSpPr>
        <p:spPr>
          <a:xfrm>
            <a:off x="11304720" y="6365520"/>
            <a:ext cx="94248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14/24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Title 9"/>
          <p:cNvSpPr/>
          <p:nvPr/>
        </p:nvSpPr>
        <p:spPr>
          <a:xfrm>
            <a:off x="832680" y="1150560"/>
            <a:ext cx="828972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Methods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511" name="Content Placeholder 10"/>
          <p:cNvSpPr/>
          <p:nvPr/>
        </p:nvSpPr>
        <p:spPr>
          <a:xfrm>
            <a:off x="454320" y="2444400"/>
            <a:ext cx="10293120" cy="30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457200" algn="just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Training Dataset Preparation</a:t>
            </a:r>
            <a:endParaRPr b="0" lang="en-US" sz="2800" spc="-1" strike="noStrike">
              <a:latin typeface="Arial"/>
            </a:endParaRPr>
          </a:p>
          <a:p>
            <a:pPr marL="457200" algn="just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457200" algn="just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1.Treat each brain as object (“Is the brain schizophrenic”)</a:t>
            </a:r>
            <a:endParaRPr b="0" lang="en-US" sz="2800" spc="-1" strike="noStrike">
              <a:latin typeface="Arial"/>
            </a:endParaRPr>
          </a:p>
          <a:p>
            <a:pPr marL="457200" algn="just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2.Treat each region as object (“Does a region belong to schizophrenic brain”)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512" name=""/>
          <p:cNvSpPr/>
          <p:nvPr/>
        </p:nvSpPr>
        <p:spPr>
          <a:xfrm>
            <a:off x="11304720" y="6365520"/>
            <a:ext cx="94248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15/24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Title 11"/>
          <p:cNvSpPr/>
          <p:nvPr/>
        </p:nvSpPr>
        <p:spPr>
          <a:xfrm>
            <a:off x="832680" y="1150560"/>
            <a:ext cx="828972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Methods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514" name="Content Placeholder 12"/>
          <p:cNvSpPr/>
          <p:nvPr/>
        </p:nvSpPr>
        <p:spPr>
          <a:xfrm>
            <a:off x="454320" y="2444400"/>
            <a:ext cx="10293120" cy="30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457200" algn="just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Training Dataset Preparation</a:t>
            </a:r>
            <a:endParaRPr b="0" lang="en-US" sz="2800" spc="-1" strike="noStrike">
              <a:latin typeface="Arial"/>
            </a:endParaRPr>
          </a:p>
          <a:p>
            <a:pPr marL="457200" algn="just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457200" algn="just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</p:txBody>
      </p:sp>
      <p:pic>
        <p:nvPicPr>
          <p:cNvPr id="515" name="" descr=""/>
          <p:cNvPicPr/>
          <p:nvPr/>
        </p:nvPicPr>
        <p:blipFill>
          <a:blip r:embed="rId1"/>
          <a:stretch/>
        </p:blipFill>
        <p:spPr>
          <a:xfrm>
            <a:off x="1193400" y="2906280"/>
            <a:ext cx="4962960" cy="3722040"/>
          </a:xfrm>
          <a:prstGeom prst="rect">
            <a:avLst/>
          </a:prstGeom>
          <a:ln w="0">
            <a:noFill/>
          </a:ln>
        </p:spPr>
      </p:pic>
      <p:pic>
        <p:nvPicPr>
          <p:cNvPr id="516" name="" descr=""/>
          <p:cNvPicPr/>
          <p:nvPr/>
        </p:nvPicPr>
        <p:blipFill>
          <a:blip r:embed="rId2"/>
          <a:stretch/>
        </p:blipFill>
        <p:spPr>
          <a:xfrm>
            <a:off x="6400800" y="2744640"/>
            <a:ext cx="5160960" cy="3870360"/>
          </a:xfrm>
          <a:prstGeom prst="rect">
            <a:avLst/>
          </a:prstGeom>
          <a:ln w="0">
            <a:noFill/>
          </a:ln>
        </p:spPr>
      </p:pic>
      <p:sp>
        <p:nvSpPr>
          <p:cNvPr id="517" name=""/>
          <p:cNvSpPr/>
          <p:nvPr/>
        </p:nvSpPr>
        <p:spPr>
          <a:xfrm>
            <a:off x="11304720" y="6365520"/>
            <a:ext cx="94248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16/24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Title 3"/>
          <p:cNvSpPr/>
          <p:nvPr/>
        </p:nvSpPr>
        <p:spPr>
          <a:xfrm>
            <a:off x="832680" y="1150560"/>
            <a:ext cx="828972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Methods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519" name="Content Placeholder 4"/>
          <p:cNvSpPr/>
          <p:nvPr/>
        </p:nvSpPr>
        <p:spPr>
          <a:xfrm>
            <a:off x="526320" y="1976400"/>
            <a:ext cx="5259600" cy="30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457200" algn="just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Importance Estimation</a:t>
            </a:r>
            <a:endParaRPr b="0" lang="en-US" sz="2800" spc="-1" strike="noStrike">
              <a:latin typeface="Arial"/>
            </a:endParaRPr>
          </a:p>
          <a:p>
            <a:pPr marL="457200" algn="just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457200" indent="-216000" algn="just">
              <a:lnSpc>
                <a:spcPct val="9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Random Forest</a:t>
            </a:r>
            <a:endParaRPr b="0" lang="en-US" sz="2800" spc="-1" strike="noStrike">
              <a:latin typeface="Arial"/>
            </a:endParaRPr>
          </a:p>
          <a:p>
            <a:pPr algn="just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the impurity-based feature importances. The importance of a feature is computed as the (normalized) total reduction of the criterion brought by that feature. It is also known as the Gini importance.</a:t>
            </a:r>
            <a:endParaRPr b="0" lang="en-US" sz="1800" spc="-1" strike="noStrike">
              <a:latin typeface="Arial"/>
            </a:endParaRPr>
          </a:p>
          <a:p>
            <a:pPr marL="457200" indent="-216000" algn="just">
              <a:lnSpc>
                <a:spcPct val="9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Permutation</a:t>
            </a:r>
            <a:endParaRPr b="0" lang="en-US" sz="2800" spc="-1" strike="noStrike">
              <a:latin typeface="Arial"/>
            </a:endParaRPr>
          </a:p>
          <a:p>
            <a:pPr algn="just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to be the difference between the baseline metric and metric from permuting the feature column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520" name="" descr=""/>
          <p:cNvPicPr/>
          <p:nvPr/>
        </p:nvPicPr>
        <p:blipFill>
          <a:blip r:embed="rId1"/>
          <a:stretch/>
        </p:blipFill>
        <p:spPr>
          <a:xfrm>
            <a:off x="7315200" y="2476800"/>
            <a:ext cx="3446640" cy="1865520"/>
          </a:xfrm>
          <a:prstGeom prst="rect">
            <a:avLst/>
          </a:prstGeom>
          <a:ln w="0">
            <a:noFill/>
          </a:ln>
        </p:spPr>
      </p:pic>
      <p:pic>
        <p:nvPicPr>
          <p:cNvPr id="521" name="" descr=""/>
          <p:cNvPicPr/>
          <p:nvPr/>
        </p:nvPicPr>
        <p:blipFill>
          <a:blip r:embed="rId2"/>
          <a:stretch/>
        </p:blipFill>
        <p:spPr>
          <a:xfrm>
            <a:off x="6773400" y="4114800"/>
            <a:ext cx="4608720" cy="1865520"/>
          </a:xfrm>
          <a:prstGeom prst="rect">
            <a:avLst/>
          </a:prstGeom>
          <a:ln w="0">
            <a:noFill/>
          </a:ln>
        </p:spPr>
      </p:pic>
      <p:sp>
        <p:nvSpPr>
          <p:cNvPr id="522" name=""/>
          <p:cNvSpPr/>
          <p:nvPr/>
        </p:nvSpPr>
        <p:spPr>
          <a:xfrm>
            <a:off x="6496200" y="1855800"/>
            <a:ext cx="32886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Prediction accuracy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523" name=""/>
          <p:cNvSpPr/>
          <p:nvPr/>
        </p:nvSpPr>
        <p:spPr>
          <a:xfrm>
            <a:off x="11304720" y="6365520"/>
            <a:ext cx="94248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17/24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Title 4"/>
          <p:cNvSpPr/>
          <p:nvPr/>
        </p:nvSpPr>
        <p:spPr>
          <a:xfrm>
            <a:off x="832680" y="1150560"/>
            <a:ext cx="828972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Methods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525" name="Content Placeholder 5"/>
          <p:cNvSpPr/>
          <p:nvPr/>
        </p:nvSpPr>
        <p:spPr>
          <a:xfrm>
            <a:off x="454320" y="1904400"/>
            <a:ext cx="10293120" cy="30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457200" algn="just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Batch-effect removal for making external datasets comparable</a:t>
            </a:r>
            <a:endParaRPr b="0" lang="en-US" sz="2800" spc="-1" strike="noStrike">
              <a:latin typeface="Arial"/>
            </a:endParaRPr>
          </a:p>
        </p:txBody>
      </p:sp>
      <p:pic>
        <p:nvPicPr>
          <p:cNvPr id="526" name="" descr=""/>
          <p:cNvPicPr/>
          <p:nvPr/>
        </p:nvPicPr>
        <p:blipFill>
          <a:blip r:embed="rId1"/>
          <a:stretch/>
        </p:blipFill>
        <p:spPr>
          <a:xfrm>
            <a:off x="837720" y="2743200"/>
            <a:ext cx="5186160" cy="3885120"/>
          </a:xfrm>
          <a:prstGeom prst="rect">
            <a:avLst/>
          </a:prstGeom>
          <a:ln w="0">
            <a:noFill/>
          </a:ln>
        </p:spPr>
      </p:pic>
      <p:pic>
        <p:nvPicPr>
          <p:cNvPr id="527" name="" descr=""/>
          <p:cNvPicPr/>
          <p:nvPr/>
        </p:nvPicPr>
        <p:blipFill>
          <a:blip r:embed="rId2"/>
          <a:stretch/>
        </p:blipFill>
        <p:spPr>
          <a:xfrm>
            <a:off x="6172200" y="2743200"/>
            <a:ext cx="5103360" cy="3823200"/>
          </a:xfrm>
          <a:prstGeom prst="rect">
            <a:avLst/>
          </a:prstGeom>
          <a:ln w="0">
            <a:noFill/>
          </a:ln>
        </p:spPr>
      </p:pic>
      <p:sp>
        <p:nvSpPr>
          <p:cNvPr id="528" name=""/>
          <p:cNvSpPr/>
          <p:nvPr/>
        </p:nvSpPr>
        <p:spPr>
          <a:xfrm>
            <a:off x="11304720" y="6365520"/>
            <a:ext cx="94248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18/24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Title 7"/>
          <p:cNvSpPr/>
          <p:nvPr/>
        </p:nvSpPr>
        <p:spPr>
          <a:xfrm>
            <a:off x="832680" y="1150560"/>
            <a:ext cx="828972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Discussion of the results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530" name="Content Placeholder 8"/>
          <p:cNvSpPr/>
          <p:nvPr/>
        </p:nvSpPr>
        <p:spPr>
          <a:xfrm>
            <a:off x="490320" y="2192400"/>
            <a:ext cx="10293120" cy="30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457200" algn="just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Data has been augmented</a:t>
            </a:r>
            <a:endParaRPr b="0" lang="en-US" sz="2800" spc="-1" strike="noStrike">
              <a:latin typeface="Arial"/>
            </a:endParaRPr>
          </a:p>
          <a:p>
            <a:pPr marL="457200" indent="-216000" algn="just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Transcriptomics – by external dataset</a:t>
            </a:r>
            <a:endParaRPr b="0" lang="en-US" sz="2800" spc="-1" strike="noStrike">
              <a:latin typeface="Arial"/>
            </a:endParaRPr>
          </a:p>
          <a:p>
            <a:pPr marL="457200" indent="-216000" algn="just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Lipidomics – by estimation and generation</a:t>
            </a:r>
            <a:endParaRPr b="0" lang="en-US" sz="2800" spc="-1" strike="noStrike">
              <a:latin typeface="Arial"/>
            </a:endParaRPr>
          </a:p>
        </p:txBody>
      </p:sp>
      <p:pic>
        <p:nvPicPr>
          <p:cNvPr id="531" name="" descr=""/>
          <p:cNvPicPr/>
          <p:nvPr/>
        </p:nvPicPr>
        <p:blipFill>
          <a:blip r:embed="rId1"/>
          <a:stretch/>
        </p:blipFill>
        <p:spPr>
          <a:xfrm>
            <a:off x="1626840" y="3771360"/>
            <a:ext cx="3402000" cy="2551320"/>
          </a:xfrm>
          <a:prstGeom prst="rect">
            <a:avLst/>
          </a:prstGeom>
          <a:ln w="0">
            <a:noFill/>
          </a:ln>
        </p:spPr>
      </p:pic>
      <p:pic>
        <p:nvPicPr>
          <p:cNvPr id="532" name="" descr=""/>
          <p:cNvPicPr/>
          <p:nvPr/>
        </p:nvPicPr>
        <p:blipFill>
          <a:blip r:embed="rId2"/>
          <a:stretch/>
        </p:blipFill>
        <p:spPr>
          <a:xfrm>
            <a:off x="6465960" y="3771360"/>
            <a:ext cx="3363480" cy="2522160"/>
          </a:xfrm>
          <a:prstGeom prst="rect">
            <a:avLst/>
          </a:prstGeom>
          <a:ln w="0">
            <a:noFill/>
          </a:ln>
        </p:spPr>
      </p:pic>
      <p:sp>
        <p:nvSpPr>
          <p:cNvPr id="533" name=""/>
          <p:cNvSpPr/>
          <p:nvPr/>
        </p:nvSpPr>
        <p:spPr>
          <a:xfrm>
            <a:off x="11304720" y="6365520"/>
            <a:ext cx="94248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19/24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Title 15"/>
          <p:cNvSpPr/>
          <p:nvPr/>
        </p:nvSpPr>
        <p:spPr>
          <a:xfrm>
            <a:off x="718200" y="1141920"/>
            <a:ext cx="881676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Scientific novelty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535" name="Content Placeholder 16"/>
          <p:cNvSpPr/>
          <p:nvPr/>
        </p:nvSpPr>
        <p:spPr>
          <a:xfrm>
            <a:off x="610200" y="2019600"/>
            <a:ext cx="10332360" cy="400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457200" indent="-228600">
              <a:lnSpc>
                <a:spcPct val="9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Assessing the relevance of gene or lipid to SZ has not been done previously using ML classification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536" name=""/>
          <p:cNvSpPr/>
          <p:nvPr/>
        </p:nvSpPr>
        <p:spPr>
          <a:xfrm>
            <a:off x="11304720" y="6365520"/>
            <a:ext cx="94248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20/24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Title 1"/>
          <p:cNvSpPr/>
          <p:nvPr/>
        </p:nvSpPr>
        <p:spPr>
          <a:xfrm>
            <a:off x="1175400" y="1054080"/>
            <a:ext cx="828972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ru-RU" sz="4000" spc="-1" strike="noStrike">
                <a:solidFill>
                  <a:srgbClr val="000000"/>
                </a:solidFill>
                <a:latin typeface="Arial"/>
                <a:ea typeface="Arial"/>
              </a:rPr>
              <a:t>Conclusion</a:t>
            </a: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s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538" name="Content Placeholder 2"/>
          <p:cNvSpPr/>
          <p:nvPr/>
        </p:nvSpPr>
        <p:spPr>
          <a:xfrm>
            <a:off x="735840" y="2250000"/>
            <a:ext cx="8289720" cy="357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457200" indent="-228600" algn="just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Brains of healthy people and people with SZ have different lipid composition and gene expression, which is possible to notice and measure using statistical tools.</a:t>
            </a:r>
            <a:endParaRPr b="0" lang="en-US" sz="2800" spc="-1" strike="noStrike">
              <a:latin typeface="Arial"/>
            </a:endParaRPr>
          </a:p>
          <a:p>
            <a:pPr marL="457200" indent="-228600" algn="just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457200" indent="-228600" algn="just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457200" indent="-228600" algn="just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457200" indent="-228600" algn="just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457200" indent="-228600" algn="just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457200" indent="-228600" algn="just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457200" indent="-228600" algn="just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</p:txBody>
      </p:sp>
      <p:sp>
        <p:nvSpPr>
          <p:cNvPr id="539" name=""/>
          <p:cNvSpPr/>
          <p:nvPr/>
        </p:nvSpPr>
        <p:spPr>
          <a:xfrm>
            <a:off x="11305080" y="6365880"/>
            <a:ext cx="94248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21/24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Title 19"/>
          <p:cNvSpPr/>
          <p:nvPr/>
        </p:nvSpPr>
        <p:spPr>
          <a:xfrm>
            <a:off x="1175400" y="1054080"/>
            <a:ext cx="828972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ru-RU" sz="4000" spc="-1" strike="noStrike">
                <a:solidFill>
                  <a:srgbClr val="000000"/>
                </a:solidFill>
                <a:latin typeface="Arial"/>
                <a:ea typeface="Arial"/>
              </a:rPr>
              <a:t>Conclusion</a:t>
            </a: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s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541" name="Content Placeholder 20"/>
          <p:cNvSpPr/>
          <p:nvPr/>
        </p:nvSpPr>
        <p:spPr>
          <a:xfrm>
            <a:off x="735840" y="2250000"/>
            <a:ext cx="8289720" cy="357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457200" indent="-228600" algn="just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DLPFC is poorly classified</a:t>
            </a:r>
            <a:endParaRPr b="0" lang="en-US" sz="2800" spc="-1" strike="noStrike">
              <a:latin typeface="Arial"/>
            </a:endParaRPr>
          </a:p>
          <a:p>
            <a:pPr marL="457200" indent="-228600" algn="just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Ventral Lateral Thalamus and Corpus Callosum Posterior are perfectly classified</a:t>
            </a:r>
            <a:endParaRPr b="0" lang="en-US" sz="2800" spc="-1" strike="noStrike">
              <a:latin typeface="Arial"/>
            </a:endParaRPr>
          </a:p>
          <a:p>
            <a:pPr marL="457200" indent="-228600" algn="just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457200" indent="-228600" algn="just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Most important lipids:</a:t>
            </a:r>
            <a:endParaRPr b="0" lang="en-US" sz="2800" spc="-1" strike="noStrike">
              <a:latin typeface="Arial"/>
            </a:endParaRPr>
          </a:p>
          <a:p>
            <a:pPr marL="457200" indent="-228600" algn="just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LPE 22:4, LPE 18:1, LPE 20:2, LPE 20:4, LPE 20:1</a:t>
            </a:r>
            <a:endParaRPr b="0" lang="en-US" sz="2800" spc="-1" strike="noStrike">
              <a:latin typeface="Arial"/>
            </a:endParaRPr>
          </a:p>
          <a:p>
            <a:pPr marL="457200" indent="-228600" algn="just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  <a:p>
            <a:pPr marL="457200" indent="-228600" algn="just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Mean 5-fold CV score for the synthetic dataset based on lipids where we treat regions as objects is 0.942 using random forest algorithm.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542" name=""/>
          <p:cNvSpPr/>
          <p:nvPr/>
        </p:nvSpPr>
        <p:spPr>
          <a:xfrm>
            <a:off x="11305080" y="6365880"/>
            <a:ext cx="94248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22/24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Title 1"/>
          <p:cNvSpPr/>
          <p:nvPr/>
        </p:nvSpPr>
        <p:spPr>
          <a:xfrm>
            <a:off x="1175400" y="1054080"/>
            <a:ext cx="828972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Outlook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544" name="Content Placeholder 2"/>
          <p:cNvSpPr/>
          <p:nvPr/>
        </p:nvSpPr>
        <p:spPr>
          <a:xfrm>
            <a:off x="735840" y="2250000"/>
            <a:ext cx="8289720" cy="357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18252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We are planning to write a paper about this topic and share our insights with the research centers that are doing the actual experiments.</a:t>
            </a:r>
            <a:endParaRPr b="0" lang="en-US" sz="2800" spc="-1" strike="noStrike">
              <a:latin typeface="Arial"/>
            </a:endParaRPr>
          </a:p>
          <a:p>
            <a:pPr marL="45720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800" spc="-1" strike="noStrike">
              <a:latin typeface="Arial"/>
            </a:endParaRPr>
          </a:p>
        </p:txBody>
      </p:sp>
      <p:sp>
        <p:nvSpPr>
          <p:cNvPr id="545" name=""/>
          <p:cNvSpPr/>
          <p:nvPr/>
        </p:nvSpPr>
        <p:spPr>
          <a:xfrm>
            <a:off x="11305080" y="6365880"/>
            <a:ext cx="94248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23/24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Title 1"/>
          <p:cNvSpPr/>
          <p:nvPr/>
        </p:nvSpPr>
        <p:spPr>
          <a:xfrm>
            <a:off x="982080" y="1098000"/>
            <a:ext cx="828972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Arial"/>
              </a:rPr>
              <a:t>Acknowledgements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547" name="Content Placeholder 2"/>
          <p:cNvSpPr/>
          <p:nvPr/>
        </p:nvSpPr>
        <p:spPr>
          <a:xfrm>
            <a:off x="533520" y="2408400"/>
            <a:ext cx="8289720" cy="357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457200" algn="just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Maria Osetrova, research engineer at Skoltech Center of Life Sciences</a:t>
            </a:r>
            <a:endParaRPr b="0" lang="en-US" sz="2800" spc="-1" strike="noStrike">
              <a:latin typeface="Arial"/>
            </a:endParaRPr>
          </a:p>
          <a:p>
            <a:pPr marL="457200" algn="just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Provided the dataset and explanation of its file structure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548" name=""/>
          <p:cNvSpPr/>
          <p:nvPr/>
        </p:nvSpPr>
        <p:spPr>
          <a:xfrm>
            <a:off x="11305080" y="6365880"/>
            <a:ext cx="942480" cy="42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latin typeface="Arial"/>
              </a:rPr>
              <a:t>24/24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aac508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aac508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aac508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aac508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aac508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aac508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aac508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aac508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aac508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aac508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aac508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aac508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2161</TotalTime>
  <Application>LibreOffice/7.3.7.2$Linux_X86_64 LibreOffice_project/30$Build-2</Application>
  <AppVersion>15.0000</AppVersion>
  <Words>628</Words>
  <Paragraphs>90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Daria Tokmeninova</dc:creator>
  <dc:description/>
  <dc:language>en-US</dc:language>
  <cp:lastModifiedBy/>
  <dcterms:modified xsi:type="dcterms:W3CDTF">2023-04-24T22:16:31Z</dcterms:modified>
  <cp:revision>52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7</vt:i4>
  </property>
  <property fmtid="{D5CDD505-2E9C-101B-9397-08002B2CF9AE}" pid="3" name="PresentationFormat">
    <vt:lpwstr>Widescreen</vt:lpwstr>
  </property>
  <property fmtid="{D5CDD505-2E9C-101B-9397-08002B2CF9AE}" pid="4" name="Slides">
    <vt:i4>12</vt:i4>
  </property>
</Properties>
</file>