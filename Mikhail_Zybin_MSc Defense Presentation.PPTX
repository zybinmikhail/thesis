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3.xml.rels" ContentType="application/vnd.openxmlformats-package.relationships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theme/theme11.xml" ContentType="application/vnd.openxmlformats-officedocument.theme+xml"/>
  <Override PartName="/ppt/theme/theme6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13.xml" ContentType="application/vnd.openxmlformats-officedocument.theme+xml"/>
  <Override PartName="/ppt/notesSlides/_rels/notesSlide2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0.png" ContentType="image/png"/>
  <Override PartName="/ppt/media/image29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12.png" ContentType="image/png"/>
  <Override PartName="/ppt/media/image7.png" ContentType="image/png"/>
  <Override PartName="/ppt/media/image37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0.png" ContentType="image/png"/>
  <Override PartName="/ppt/media/image35.png" ContentType="image/png"/>
  <Override PartName="/ppt/media/image5.png" ContentType="image/png"/>
  <Override PartName="/ppt/media/image28.png" ContentType="image/png"/>
  <Override PartName="/ppt/media/image34.png" ContentType="image/png"/>
  <Override PartName="/ppt/media/image4.png" ContentType="image/png"/>
  <Override PartName="/ppt/media/image33.jpeg" ContentType="image/jpeg"/>
  <Override PartName="/ppt/media/image27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slideLayouts/_rels/slideLayout78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91" name="PlaceHolder 4"/>
          <p:cNvSpPr>
            <a:spLocks noGrp="1"/>
          </p:cNvSpPr>
          <p:nvPr>
            <p:ph type="dt" idx="1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92" name="PlaceHolder 5"/>
          <p:cNvSpPr>
            <a:spLocks noGrp="1"/>
          </p:cNvSpPr>
          <p:nvPr>
            <p:ph type="ftr" idx="1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93" name="PlaceHolder 6"/>
          <p:cNvSpPr>
            <a:spLocks noGrp="1"/>
          </p:cNvSpPr>
          <p:nvPr>
            <p:ph type="sldNum" idx="1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E7455FC-06F6-4603-ABFC-36FD7B99808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B2A941D-04F9-490D-B97D-8086E22A2980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4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D26C3AD-70D0-4E55-A5E3-564B7AFABCD0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4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overall purpose of the work is to … 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objectives of the present research run as follows: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1…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2… 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3…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3CDCCDA-8D9D-4239-86F1-FEFADF1E2D31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4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All these results suggest that …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We can conclude that … 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Taken together, these results point to three conclusions …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 sum up, … 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Although it is still too early to draw a definite conclusion, it can be stated that … </a:t>
            </a:r>
            <a:endParaRPr b="0" lang="en-US" sz="1200" spc="-1" strike="noStrike">
              <a:latin typeface="Arial"/>
            </a:endParaRPr>
          </a:p>
          <a:p>
            <a:pPr marL="3999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Although the obtained data are limited, we may conclude that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1EF39A3-2C0F-465B-BA42-E887FF96D5B9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4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20D61B6-7F53-4984-BF73-6AEF2B813EAC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6F015D7-F7D7-4E03-95E6-1E0B8AF6C8A0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5B633B7-7D65-4213-9DC3-96D34FB4D81B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F178D9E-A80D-450F-9395-FBF1F2EA517D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42B0D11-5EDB-405A-B3F5-2CD8A05DC266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616D76D-8E00-4C2C-946B-8FD1ECE44F33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066AB65-6657-4F93-8590-6716127BB736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I would like to express my gratitude to … who &lt;provided smth /assisted in smth/ conducted smth/ etc.&gt;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Thank you for your attention. Now I’m ready to answer your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BC408DB-E843-41DF-972F-E6C8A67A615F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77040" cy="307692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7040" cy="359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Phrases you may find useful: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The area of my research covers …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Today … has been already studied in the field.</a:t>
            </a:r>
            <a:endParaRPr b="0" lang="en-US" sz="1200" spc="-1" strike="noStrike">
              <a:latin typeface="Arial"/>
            </a:endParaRPr>
          </a:p>
          <a:p>
            <a:pPr marL="457200" indent="-2286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6244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9844DD3-371F-45C5-9A18-9F7BDFA3DE4F}" type="slidenum"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D5AD836-64DC-4136-B9FA-5E9F64EC8C7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8889B62-BAE7-4750-99C4-94F6813B8DB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48C454F-0D0A-403D-A31B-035D4233238E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1004D81-6F82-4041-A1D6-85A3C84C27E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7ED8ED9-73C7-4324-A98E-7DB13F09551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5135BD2-C0D2-48A7-B2E6-4C0F1F7C4DC2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35247A1-C36B-4AB3-8B8A-50724F5B0DB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A251712-7CAD-4EC0-97A4-6A2427F9B3BD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348F275-537A-4D72-98FB-1B3895DCB07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87C7079-6F4A-4E2B-950C-6C568FB69135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EA2C2CE-1C81-42F7-B4C4-2A8E78EBDE0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ED8B0D8-E3FF-4604-BF14-143EB614971A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D3B987-6C3F-4277-A6CB-298A6262BB3D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C6949D-556A-488C-AF47-31389A73B4BF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26A602-6EB1-445C-AA29-1AD1C347236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AB940B-EF9F-42D7-9833-6FA21B0FE9F1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86A399-8993-4C9F-863C-D6DFD9FDCFCA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41E88A-23A7-4AB5-B343-FC9867C3E9B5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714F3B-89A0-483F-B768-D99FAF12B816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9E2378-D080-4E0F-B5F9-A0FF75188BDD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F73CE2-1623-44EF-AB3C-C97C541763AB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ED853B-DC76-42E9-A765-8BD57778376A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0EA652-87C8-45DC-8F80-FF3B31A59900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942A57-6E5B-4507-B040-FCB1C8967D7B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B2FD0B-BB8C-4505-9985-7F1D11F3C0BC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FCB3CE-C86B-4568-99C5-0735EE9C6B6B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3AC400-F9EC-4AD6-98E8-BA4450F46D27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E5916F-8437-4555-8D90-7D46127038F1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EA9FAA-B78A-4620-875C-43AB3A9FD571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A61E3A-3C78-45D4-9C09-878FDF9F4847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FE23B0-E57C-4B7A-ABFC-0B044DFFF3CE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D3C02B-104E-4CCE-9900-2B813B1FF05C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1ADAC9-D19E-4297-BBB0-57CCE34EE696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29B600-D76D-4138-AB31-6EEBE8C6D071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75A972-1B40-4B22-9896-209B96BF3441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3C6730-CC64-4ED4-B422-570201FB2A75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28E849F-2B57-4CAF-AC0B-CC79BFA33B5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03B204C-E1C6-454F-80C2-8FEB78B298D3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6A40D68-AEA3-4226-B44D-0AA0BD7AC4A8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DB907B8-DE88-48E0-AE94-EF89952F1D9E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DC9B0F9-A5F3-4D5D-87D1-E2F9755F2829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9C4D127-0278-4BBE-B19E-AE57F7A7F020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8D7F8B1-AA2B-4BF4-A714-2907886133EC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B416BB4-4BEB-480D-9633-0892A22A5C9E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B50E4AD-DAA4-42AA-93BB-9D7499F50B12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86287D4-6310-4D75-98B7-1C098D2F8ACE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08B2B43-0325-4B75-95CE-A19E69AB6874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6C1294D-D52F-40ED-AE8A-8192164123C0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80631D-D090-4F05-9A9F-1B9D6520BECF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D6C2BF-C2A0-4896-B8B3-2FC673E4BBF6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15ED34F-1798-41F2-9F6C-6D48B4B4BE85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08E9B5-F45C-4613-9AAF-2FC8565127E6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9DFA331-3600-443B-9455-8F6B0E4C5039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5AA56D6-9D99-41F3-B68A-6F6EE4421140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EB6913-AEA3-48F3-B5C0-F4D89CE00A7D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F550249-7987-47D0-8793-204D0B920479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9C8DBD-3E97-4684-9631-F1149B5ED040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FD202CE-FA9A-4462-AD0F-E3542559AB9B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927BF71-996B-45B5-B326-EC8FEE44C58F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EB34237-2832-4BA7-AC2C-13F6C51EAA13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5B26CA-5733-4A54-B7A0-915EF5377B5E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48DFBE-9DF1-47B0-AFBD-515E995FFB07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B9F975-CE72-49F1-9A97-92AA11663E3C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083346-8DA8-4B38-A1F2-15D79863F2CC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2D2D22-2152-456E-BAC4-E6E7EEB1CCF1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F4C320-972B-420F-A55E-0EF14CEC2FB4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12919F-1313-481C-8DC7-E289A1A664F4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CB2EFD-8471-49D1-8118-BE119F61380A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568F5C-5B62-4C69-A989-BD3D1F8F79B9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065874-AF9A-414B-A710-8C1D732F10C6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328135-3291-4AAC-85B8-9F661A5CCCA5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3DF389-527A-4509-B241-49941CF7A4C4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02D83DD-EEBF-4DDB-BC76-6D2D5B978387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3760C8D-C770-4834-A2B5-48D058823EEB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15AE31B-C685-46B4-861F-8175E4179D0E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3190108-F7DF-4A8E-A37D-3B80E019DFB2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94B0206-C9C6-456B-9670-10B1CE0D3F6C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4804F37-020F-4505-8CF7-126349BE25B8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07A58F6-F487-410F-8559-94976CC7DD44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14C3652A-3EBC-4A5D-9866-430F2BA94545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C12D00D-6EBC-488A-98C9-4D506B175149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68786EE-D441-4E5A-A1AD-E072BA829691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6A890D1-3BE1-4D56-B739-7496BF0C23D9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850B517-DD4B-4AB6-91EF-7D9CC48907CD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3673DB8-5C8D-4796-B62E-835F181230C6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DE9E1D1-690F-4361-9599-98C6BD42540E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9B3ADE-B0B7-43D9-AF73-312DDFD128F0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D29DDA1-EA3B-49DE-8D0F-8DE58B949045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D7E53EE-DA55-4DCA-900C-8C327D0F4E40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E3BAA3B-F27C-423D-8133-7BD0409F4920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B38DCD3-627F-44DD-B7EF-8A5F6F64B58A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EA87B73-B1C7-4BA7-93D8-4BC0781A69B8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45DF44-D6AC-4AE2-95FF-9D7EFB6BFB07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8556849-EA52-44F1-B731-CFF92AAC6CB6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427931C-D440-44D6-9A66-695AF4E993C6}" type="slidenum">
              <a:t>&lt;#&gt;</a:t>
            </a:fld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73AB8E5-4898-46C6-8493-E645F3550BBB}" type="slidenum">
              <a:t>&lt;#&gt;</a:t>
            </a:fld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0DDFC60-8F29-4AD5-8F1B-35707C564A5A}" type="slidenum">
              <a:t>&lt;#&gt;</a:t>
            </a:fld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41DCD4A-3DC6-4998-BA73-53E5D84436F9}" type="slidenum">
              <a:t>&lt;#&gt;</a:t>
            </a:fld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A0DF30D-78C8-401A-981B-2FFE6E5A0C37}" type="slidenum">
              <a:t>&lt;#&gt;</a:t>
            </a:fld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D4E814-9B55-47E8-BA3D-1C0E2D23E644}" type="slidenum">
              <a:t>&lt;#&gt;</a:t>
            </a:fld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B03F909-F144-422D-A28B-FDC56EAA6557}" type="slidenum">
              <a:t>&lt;#&gt;</a:t>
            </a:fld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40EFBF0-5BC7-4876-80E3-713008E9A3EC}" type="slidenum">
              <a:t>&lt;#&gt;</a:t>
            </a:fld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94D2B6E-95C6-4502-8A40-E93C28DD4F5C}" type="slidenum">
              <a:t>&lt;#&gt;</a:t>
            </a:fld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B9DFFCC-5CE7-4E9C-A2CD-D0C9040B0D96}" type="slidenum">
              <a:t>&lt;#&gt;</a:t>
            </a:fld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3303ADF-3563-4168-A6EA-A26EEB016D12}" type="slidenum">
              <a:t>&lt;#&gt;</a:t>
            </a:fld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EC785CD-9E8C-459B-B1D0-8AE52A7A62FC}" type="slidenum">
              <a:t>&lt;#&gt;</a:t>
            </a:fld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1BF5A46-F14C-49AE-B20A-F2A198ECF53B}" type="slidenum">
              <a:t>&lt;#&gt;</a:t>
            </a:fld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58209D1-775C-438E-98B8-285CA8FBDB6E}" type="slidenum">
              <a:t>&lt;#&gt;</a:t>
            </a:fld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B7251FC-31F2-44D4-B903-D45C11B5AFE6}" type="slidenum">
              <a:t>&lt;#&gt;</a:t>
            </a:fld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4BE4F9D-1288-4865-96EC-062999A7DF81}" type="slidenum">
              <a:t>&lt;#&gt;</a:t>
            </a:fld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B3C2CE0-C15B-4FA2-BB61-9885D80FF121}" type="slidenum">
              <a:t>&lt;#&gt;</a:t>
            </a:fld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A11C0B4-04BE-4B07-9066-8819112BDE24}" type="slidenum">
              <a:t>&lt;#&gt;</a:t>
            </a:fld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1703087-64A2-4CAD-A1D1-2BEB0CCAAEB5}" type="slidenum">
              <a:t>&lt;#&gt;</a:t>
            </a:fld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AEC60B3-03F4-48BB-A0C7-B8DD57E61DA8}" type="slidenum">
              <a:t>&lt;#&gt;</a:t>
            </a:fld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04F6EDD-239C-4287-BDD6-52E0E19362C3}" type="slidenum">
              <a:t>&lt;#&gt;</a:t>
            </a:fld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761D554-11C7-4AEB-B7F3-982D29A2E747}" type="slidenum">
              <a:t>&lt;#&gt;</a:t>
            </a:fld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BF33A0D-99E2-41C8-AD05-E119068F6B27}" type="slidenum">
              <a:t>&lt;#&gt;</a:t>
            </a:fld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0EE26DA-25DA-4965-B08D-2DCECA28A1A0}" type="slidenum">
              <a:t>&lt;#&gt;</a:t>
            </a:fld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7A20720-8390-4BB4-A78C-2AB3D76C16E6}" type="slidenum">
              <a:t>&lt;#&gt;</a:t>
            </a:fld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F8062C8-23CB-46AB-814F-CEB460E6B838}" type="slidenum">
              <a:t>&lt;#&gt;</a:t>
            </a:fld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95DB309-EE32-482C-8ECF-62080AE31344}" type="slidenum">
              <a:t>&lt;#&gt;</a:t>
            </a:fld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35F7C0F-FDD2-401B-8C0D-694838CBFADA}" type="slidenum">
              <a:t>&lt;#&gt;</a:t>
            </a:fld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47BADED-69AD-4E5A-8E27-302B79831D34}" type="slidenum">
              <a:t>&lt;#&gt;</a:t>
            </a:fld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057FF8A-15FF-46AF-8098-A80AD696D831}" type="slidenum">
              <a:t>&lt;#&gt;</a:t>
            </a:fld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F11D8A0-444F-4811-A2D0-224D53DEC955}" type="slidenum">
              <a:t>&lt;#&gt;</a:t>
            </a:fld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4F4D997-97E7-4E05-8110-53C401216B8A}" type="slidenum">
              <a:t>&lt;#&gt;</a:t>
            </a:fld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5FB8053-CFD4-4FBC-A94D-B584DB1EF9C3}" type="slidenum">
              <a:t>&lt;#&gt;</a:t>
            </a:fld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E413893-1939-4788-8B67-50B60C006321}" type="slidenum">
              <a:t>&lt;#&gt;</a:t>
            </a:fld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D968214-C0AC-4537-9174-E6F556195311}" type="slidenum">
              <a:t>&lt;#&gt;</a:t>
            </a:fld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937CC2B-15F6-46BE-A5C0-1C52804A2E2B}" type="slidenum">
              <a:t>&lt;#&gt;</a:t>
            </a:fld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25D0879-53BB-43FB-9677-7A947088AF94}" type="slidenum">
              <a:t>&lt;#&gt;</a:t>
            </a:fld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86D42A5-534A-4D98-B68E-E443E6798E19}" type="slidenum">
              <a:t>&lt;#&gt;</a:t>
            </a:fld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A93F3C3-1857-4E5D-A9EE-8B99106CEB07}" type="slidenum">
              <a:t>&lt;#&gt;</a:t>
            </a:fld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91D1B50-CB15-42BE-81C7-85EDA98160B8}" type="slidenum">
              <a:t>&lt;#&gt;</a:t>
            </a:fld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EBF553A-F6A1-44F8-82DE-9D3279949147}" type="slidenum">
              <a:t>&lt;#&gt;</a:t>
            </a:fld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D8897C6-0350-486B-8806-010A170D1D12}" type="slidenum">
              <a:t>&lt;#&gt;</a:t>
            </a:fld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C0B3A78-B406-4A3C-9632-884E11C05C31}" type="slidenum">
              <a:t>&lt;#&gt;</a:t>
            </a:fld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CC5403-FC3F-4FE9-8BE8-0F4AE91A125E}" type="slidenum">
              <a:t>&lt;#&gt;</a:t>
            </a:fld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9FB0A13-7A72-4A98-BBC9-7B46BCD9DA94}" type="slidenum">
              <a:t>&lt;#&gt;</a:t>
            </a:fld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D423129-D91B-4C26-B1C3-05857080A7AF}" type="slidenum">
              <a:t>&lt;#&gt;</a:t>
            </a:fld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BCD4F4B-8BC9-4516-9C32-3A7C8F3A7A76}" type="slidenum">
              <a:t>&lt;#&gt;</a:t>
            </a:fld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EECF6B4-0C9B-4986-8E8C-0D37A3003441}" type="slidenum">
              <a:t>&lt;#&gt;</a:t>
            </a:fld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C4864D0-A8D9-400F-A7BF-F42E4D203414}" type="slidenum">
              <a:t>&lt;#&gt;</a:t>
            </a:fld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C4E6C52-FFB4-4A4F-8CE1-5F64AE523BFA}" type="slidenum">
              <a:t>&lt;#&gt;</a:t>
            </a:fld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39E34480-D259-492E-916A-8B2F9342A5FE}" type="slidenum">
              <a:t>&lt;#&gt;</a:t>
            </a:fld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6D51C32-DBCE-4223-9D79-5053BB0164EB}" type="slidenum">
              <a:t>&lt;#&gt;</a:t>
            </a:fld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7A9A4C29-6CF1-46A9-AB50-CF41950B0B1F}" type="slidenum">
              <a:t>&lt;#&gt;</a:t>
            </a:fld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0C6CAA2-9FA1-437A-AD96-345CF9F5043E}" type="slidenum">
              <a:t>&lt;#&gt;</a:t>
            </a:fld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F12ECF2F-C2CF-47E7-91C2-4F4CFB5397DF}" type="slidenum">
              <a:t>&lt;#&gt;</a:t>
            </a:fld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B0E43C0A-E94E-49D3-A07A-2657356AC632}" type="slidenum">
              <a:t>&lt;#&gt;</a:t>
            </a:fld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38EFFBFA-EDE9-4DF4-ACD3-A561F92FB662}" type="slidenum">
              <a:t>&lt;#&gt;</a:t>
            </a:fld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81100D8-A689-4423-96FE-DBDB44B82F8C}" type="slidenum">
              <a:t>&lt;#&gt;</a:t>
            </a:fld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1ABB9811-1A7A-454E-B5E3-98901DCB4748}" type="slidenum">
              <a:t>&lt;#&gt;</a:t>
            </a:fld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0B1EF83E-E155-49C4-AE4D-B727A0C8D6BD}" type="slidenum">
              <a:t>&lt;#&gt;</a:t>
            </a:fld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E5745D70-D5CC-44EA-8B31-964D7D6A9D8B}" type="slidenum">
              <a:t>&lt;#&gt;</a:t>
            </a:fld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B7051BE7-4BCB-46B1-AE27-7B76A1AA48DF}" type="slidenum">
              <a:t>&lt;#&gt;</a:t>
            </a:fld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BCEF6CF-C218-48BA-B928-0B97D2F27B60}" type="slidenum">
              <a:t>&lt;#&gt;</a:t>
            </a:fld>
          </a:p>
        </p:txBody>
      </p:sp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A9B8240-4757-4663-A2EF-0D1641ADAA00}" type="slidenum">
              <a:t>&lt;#&gt;</a:t>
            </a:fld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F070C2E-441E-41D0-B8A8-58520950CCAE}" type="slidenum">
              <a:t>&lt;#&gt;</a:t>
            </a:fld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C233D68-BD71-49F8-81E8-3BC75BBF8473}" type="slidenum">
              <a:t>&lt;#&gt;</a:t>
            </a:fld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518995E-A6AB-4D1A-A4D3-C98144432C7F}" type="slidenum">
              <a:t>&lt;#&gt;</a:t>
            </a:fld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EE54517-EB01-4208-8106-48D91EC74E31}" type="slidenum">
              <a:t>&lt;#&gt;</a:t>
            </a:fld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118A093-3C34-4836-89AD-98ECF31584CD}" type="slidenum">
              <a:t>&lt;#&gt;</a:t>
            </a:fld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EBFFF7A-C38A-4D67-81E5-52D04C5DC46E}" type="slidenum">
              <a:t>&lt;#&gt;</a:t>
            </a:fld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91B321B-D838-4A0E-9E24-0C21552BC90D}" type="slidenum">
              <a:t>&lt;#&gt;</a:t>
            </a:fld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2010F7C-393E-47A8-A54C-683E747C8D22}" type="slidenum">
              <a:t>&lt;#&gt;</a:t>
            </a:fld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7F1ED4E-5EE8-4053-8FFF-47A8F6D6E95C}" type="slidenum">
              <a:t>&lt;#&gt;</a:t>
            </a:fld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9B1B22A-0081-4299-89E2-321685E34A6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66.xml"/><Relationship Id="rId13" Type="http://schemas.openxmlformats.org/officeDocument/2006/relationships/slideLayout" Target="../slideLayouts/slideLayout167.xml"/><Relationship Id="rId14" Type="http://schemas.openxmlformats.org/officeDocument/2006/relationships/slideLayout" Target="../slideLayouts/slideLayout16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6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Google Shape;11;p26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2" name="Google Shape;12;p26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01B0AD3-7478-43A6-8865-E0750F8C859A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</a:t>
            </a:r>
            <a:r>
              <a:rPr b="0" lang="en-US" sz="4400" spc="-1" strike="noStrike">
                <a:latin typeface="Arial"/>
              </a:rPr>
              <a:t>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77;p28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3" name="Google Shape;78;p28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44" name="Google Shape;79;p28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1"/>
          <p:cNvSpPr>
            <a:spLocks noGrp="1"/>
          </p:cNvSpPr>
          <p:nvPr>
            <p:ph type="sldNum" idx="2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2FE57A0-D4BF-40B4-A15D-8FC6543A234C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</a:t>
            </a:r>
            <a:r>
              <a:rPr b="0" lang="en-US" sz="4400" spc="-1" strike="noStrike">
                <a:latin typeface="Arial"/>
              </a:rPr>
              <a:t>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44;p30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5" name="Google Shape;145;p30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86" name="Google Shape;146;p30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PlaceHolder 1"/>
          <p:cNvSpPr>
            <a:spLocks noGrp="1"/>
          </p:cNvSpPr>
          <p:nvPr>
            <p:ph type="sldNum" idx="3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23A5A93-3BAE-4804-86C8-AE76CD76E6C5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211;p32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7" name="Google Shape;212;p32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213;p32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PlaceHolder 1"/>
          <p:cNvSpPr>
            <a:spLocks noGrp="1"/>
          </p:cNvSpPr>
          <p:nvPr>
            <p:ph type="sldNum" idx="4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D528712-ED54-4AC6-9F7F-1DE5169A2DAC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278;p34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9" name="Google Shape;279;p34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170" name="Google Shape;280;p34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PlaceHolder 1"/>
          <p:cNvSpPr>
            <a:spLocks noGrp="1"/>
          </p:cNvSpPr>
          <p:nvPr>
            <p:ph type="sldNum" idx="5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CA61FC2-BB8C-4EBF-991A-91A3D87CE03C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345;p36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1" name="Google Shape;346;p36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212" name="Google Shape;347;p36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PlaceHolder 1"/>
          <p:cNvSpPr>
            <a:spLocks noGrp="1"/>
          </p:cNvSpPr>
          <p:nvPr>
            <p:ph type="sldNum" idx="6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EEC24FB-5FB2-4D97-A808-31FB02B8C764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412;p38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3" name="Google Shape;413;p38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254" name="Google Shape;414;p38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PlaceHolder 1"/>
          <p:cNvSpPr>
            <a:spLocks noGrp="1"/>
          </p:cNvSpPr>
          <p:nvPr>
            <p:ph type="sldNum" idx="7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63A0EB9-A311-4380-A2A2-A0CE4CF4B942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479;p40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95" name="Google Shape;480;p40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296" name="Google Shape;481;p40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PlaceHolder 1"/>
          <p:cNvSpPr>
            <a:spLocks noGrp="1"/>
          </p:cNvSpPr>
          <p:nvPr>
            <p:ph type="sldNum" idx="8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28347D3-423A-4791-9604-0023A07501BD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479;p40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7" name="Google Shape;480;p40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338" name="Google Shape;481;p40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PlaceHolder 1"/>
          <p:cNvSpPr>
            <a:spLocks noGrp="1"/>
          </p:cNvSpPr>
          <p:nvPr>
            <p:ph type="sldNum" idx="9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A23E755-CCD3-4EB9-B9B3-5811CDC69574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412;p38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79" name="Google Shape;413;p38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380" name="Google Shape;414;p38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PlaceHolder 1"/>
          <p:cNvSpPr>
            <a:spLocks noGrp="1"/>
          </p:cNvSpPr>
          <p:nvPr>
            <p:ph type="sldNum" idx="10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D1A88C8-AA23-4D41-BA1D-5C2C0A43C229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12;p38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21" name="Google Shape;413;p38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422" name="Google Shape;414;p38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PlaceHolder 1"/>
          <p:cNvSpPr>
            <a:spLocks noGrp="1"/>
          </p:cNvSpPr>
          <p:nvPr>
            <p:ph type="sldNum" idx="11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3C567AB-D189-4666-A415-34981BAB5C26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747;p48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63" name="Google Shape;748;p48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464" name="Google Shape;749;p48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PlaceHolder 1"/>
          <p:cNvSpPr>
            <a:spLocks noGrp="1"/>
          </p:cNvSpPr>
          <p:nvPr>
            <p:ph type="sldNum" idx="12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0272428-2895-4E15-9FEA-96FA7EA93541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46;p42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05" name="Google Shape;547;p42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506" name="Google Shape;548;p42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PlaceHolder 1"/>
          <p:cNvSpPr>
            <a:spLocks noGrp="1"/>
          </p:cNvSpPr>
          <p:nvPr>
            <p:ph type="sldNum" idx="13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3FE4ADC-F636-4E57-9188-F25D749EAA02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747;p48"/>
          <p:cNvSpPr/>
          <p:nvPr/>
        </p:nvSpPr>
        <p:spPr>
          <a:xfrm>
            <a:off x="0" y="6773040"/>
            <a:ext cx="12182760" cy="75600"/>
          </a:xfrm>
          <a:prstGeom prst="rect">
            <a:avLst/>
          </a:prstGeom>
          <a:solidFill>
            <a:srgbClr val="aac5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47" name="Google Shape;748;p48" descr=""/>
          <p:cNvPicPr/>
          <p:nvPr/>
        </p:nvPicPr>
        <p:blipFill>
          <a:blip r:embed="rId2"/>
          <a:stretch/>
        </p:blipFill>
        <p:spPr>
          <a:xfrm rot="16200000">
            <a:off x="-163440" y="5709240"/>
            <a:ext cx="1194840" cy="192600"/>
          </a:xfrm>
          <a:prstGeom prst="rect">
            <a:avLst/>
          </a:prstGeom>
          <a:ln w="0">
            <a:noFill/>
          </a:ln>
        </p:spPr>
      </p:pic>
      <p:sp>
        <p:nvSpPr>
          <p:cNvPr id="548" name="Google Shape;749;p48"/>
          <p:cNvSpPr/>
          <p:nvPr/>
        </p:nvSpPr>
        <p:spPr>
          <a:xfrm>
            <a:off x="10194480" y="-1997280"/>
            <a:ext cx="3985560" cy="3985560"/>
          </a:xfrm>
          <a:prstGeom prst="pie">
            <a:avLst>
              <a:gd name="adj1" fmla="val 5396160"/>
              <a:gd name="adj2" fmla="val 10809062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9" name="PlaceHolder 1"/>
          <p:cNvSpPr>
            <a:spLocks noGrp="1"/>
          </p:cNvSpPr>
          <p:nvPr>
            <p:ph type="sldNum" idx="14"/>
          </p:nvPr>
        </p:nvSpPr>
        <p:spPr>
          <a:xfrm>
            <a:off x="11409120" y="6333120"/>
            <a:ext cx="728280" cy="52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6BD4C48-2FBD-4391-A163-D7717ECC657E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6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7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0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2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0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4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57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57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3.jpeg"/><Relationship Id="rId2" Type="http://schemas.openxmlformats.org/officeDocument/2006/relationships/slideLayout" Target="../slideLayouts/slideLayout157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57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57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57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817;p1"/>
          <p:cNvSpPr/>
          <p:nvPr/>
        </p:nvSpPr>
        <p:spPr>
          <a:xfrm>
            <a:off x="7534080" y="907560"/>
            <a:ext cx="24843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Data Science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5" name="Google Shape;818;p1"/>
          <p:cNvSpPr/>
          <p:nvPr/>
        </p:nvSpPr>
        <p:spPr>
          <a:xfrm>
            <a:off x="4668120" y="4500360"/>
            <a:ext cx="6391440" cy="12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Student: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Mikhail Zybin</a:t>
            </a:r>
            <a:endParaRPr b="0" lang="en-US" sz="2000" spc="-1" strike="noStrike">
              <a:latin typeface="Arial"/>
            </a:endParaRPr>
          </a:p>
          <a:p>
            <a:pPr marL="457200" indent="-228600" algn="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Research Advisor: </a:t>
            </a:r>
            <a:r>
              <a:rPr b="0" i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Philipp Khaitovich</a:t>
            </a:r>
            <a:endParaRPr b="0" lang="en-US" sz="2000" spc="-1" strike="noStrike">
              <a:latin typeface="Arial"/>
            </a:endParaRPr>
          </a:p>
          <a:p>
            <a:pPr marL="457200" indent="-228600" algn="r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6600" spc="-1" strike="noStrike">
              <a:latin typeface="Arial"/>
            </a:endParaRPr>
          </a:p>
        </p:txBody>
      </p:sp>
      <p:sp>
        <p:nvSpPr>
          <p:cNvPr id="596" name="Google Shape;819;p1"/>
          <p:cNvSpPr/>
          <p:nvPr/>
        </p:nvSpPr>
        <p:spPr>
          <a:xfrm>
            <a:off x="3204720" y="5938200"/>
            <a:ext cx="639144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9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595959"/>
                </a:solidFill>
                <a:latin typeface="arial"/>
                <a:ea typeface="arial"/>
              </a:rPr>
              <a:t>June, 2023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1600" spc="-1" strike="noStrike">
              <a:latin typeface="Arial"/>
            </a:endParaRPr>
          </a:p>
        </p:txBody>
      </p:sp>
      <p:sp>
        <p:nvSpPr>
          <p:cNvPr id="597" name="Google Shape;821;p1"/>
          <p:cNvSpPr/>
          <p:nvPr/>
        </p:nvSpPr>
        <p:spPr>
          <a:xfrm>
            <a:off x="-652680" y="1600200"/>
            <a:ext cx="13445640" cy="23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Machine Learning Based Analysis 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of Gene Expression and Lipid Composition 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of the Schizophrenia Brain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11586600" y="62208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836;p3"/>
          <p:cNvSpPr/>
          <p:nvPr/>
        </p:nvSpPr>
        <p:spPr>
          <a:xfrm>
            <a:off x="463320" y="2863800"/>
            <a:ext cx="9884880" cy="28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graphicFrame>
        <p:nvGraphicFramePr>
          <p:cNvPr id="600" name="Google Shape;837;p3"/>
          <p:cNvGraphicFramePr/>
          <p:nvPr/>
        </p:nvGraphicFramePr>
        <p:xfrm>
          <a:off x="914400" y="2919600"/>
          <a:ext cx="10304640" cy="1439280"/>
        </p:xfrm>
        <a:graphic>
          <a:graphicData uri="http://schemas.openxmlformats.org/drawingml/2006/table">
            <a:tbl>
              <a:tblPr/>
              <a:tblGrid>
                <a:gridCol w="3434040"/>
                <a:gridCol w="3434040"/>
                <a:gridCol w="3436920"/>
              </a:tblGrid>
              <a:tr h="71964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positive symptoms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negative symptoms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cognitive symptoms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720000"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delusions and hallucinations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loss of typical affective functions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deﬁcits in attention and executive functioning</a:t>
                      </a:r>
                      <a:endParaRPr b="0" lang="en-US" sz="2800" spc="-1" strike="noStrike">
                        <a:latin typeface="Arial"/>
                      </a:endParaRPr>
                    </a:p>
                  </a:txBody>
                  <a:tcPr anchor="t" marL="90000" marR="90000">
                    <a:lnL w="9360">
                      <a:solidFill>
                        <a:srgbClr val="ffffff"/>
                      </a:solidFill>
                    </a:lnL>
                    <a:lnR w="9360">
                      <a:solidFill>
                        <a:srgbClr val="ffffff"/>
                      </a:solidFill>
                    </a:lnR>
                    <a:lnT w="9360">
                      <a:solidFill>
                        <a:srgbClr val="ffffff"/>
                      </a:solidFill>
                    </a:lnT>
                    <a:lnB w="936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601" name="Google Shape;866;p 3"/>
          <p:cNvSpPr/>
          <p:nvPr/>
        </p:nvSpPr>
        <p:spPr>
          <a:xfrm>
            <a:off x="914400" y="640080"/>
            <a:ext cx="11731680" cy="13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11586960" y="62208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866;p 1"/>
          <p:cNvSpPr/>
          <p:nvPr/>
        </p:nvSpPr>
        <p:spPr>
          <a:xfrm>
            <a:off x="914400" y="640080"/>
            <a:ext cx="11731680" cy="13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04" name="Google Shape;884;p 1"/>
          <p:cNvSpPr/>
          <p:nvPr/>
        </p:nvSpPr>
        <p:spPr>
          <a:xfrm>
            <a:off x="914400" y="1828800"/>
            <a:ext cx="10352160" cy="48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Genes: structural and functional units of DNA.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Gene expression – process of reading the information from the gene and building a corresponding protein.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Lipid is any of a diverse group of organic compounds including fats, oils, hormones, and certain components of membranes that are grouped together because they do not interact appreciably with water.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11586960" y="62208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876;p8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Aim and objectives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07" name="Google Shape;877;p8"/>
          <p:cNvSpPr/>
          <p:nvPr/>
        </p:nvSpPr>
        <p:spPr>
          <a:xfrm>
            <a:off x="482400" y="1828800"/>
            <a:ext cx="10816560" cy="43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9000"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The goal of this research is to find out what genes, what lipids in what brain regions are most relevant to schizophrenia. </a:t>
            </a:r>
            <a:endParaRPr b="0" lang="en-US" sz="272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72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- identify the most relevant regions, genes and lipids from the available data </a:t>
            </a:r>
            <a:endParaRPr b="0" lang="en-US" sz="272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- potential future experiments on molecular mechanisms of SZ would be able to rely only on a small subset of regions, genes and lipids</a:t>
            </a:r>
            <a:endParaRPr b="0" lang="en-US" sz="272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720" spc="-1" strike="noStrike">
                <a:solidFill>
                  <a:srgbClr val="000000"/>
                </a:solidFill>
                <a:latin typeface="Arial"/>
                <a:ea typeface="Arial"/>
              </a:rPr>
              <a:t>- we wanted to see whether certain genes or lipids contain most of the necessary signal that distinguishes healthy brains from SZ brains</a:t>
            </a:r>
            <a:endParaRPr b="0" lang="en-US" sz="2720" spc="-1" strike="noStrike">
              <a:latin typeface="Arial"/>
            </a:endParaRPr>
          </a:p>
          <a:p>
            <a:pPr marL="457200" indent="-2286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720" spc="-1" strike="noStrike"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11586960" y="62208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884;p9"/>
          <p:cNvSpPr/>
          <p:nvPr/>
        </p:nvSpPr>
        <p:spPr>
          <a:xfrm>
            <a:off x="914400" y="1828800"/>
            <a:ext cx="10352160" cy="48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Lipids and gene expressions from Vladimir Zelman Center for Neurobiology and Brain Rehabilitation, Skoltech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- 4 individuals with paranoid schizophrenia and 4 individuals without this diagnosis, postmortem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bulk RNA-seq for 14179 genes, 35 different regions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high performance liquid chromatography coupled with mass spectrometry for 347 lipids, 50 different regions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10" name="Google Shape;885;p9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Dataset Description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11586960" y="62208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890;p10"/>
          <p:cNvSpPr/>
          <p:nvPr/>
        </p:nvSpPr>
        <p:spPr>
          <a:xfrm>
            <a:off x="914400" y="1828800"/>
            <a:ext cx="10352160" cy="48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Another lipid dataset from Vladimir Zelman Center for Neurobiology and Brain Rehabilitation, Skoltech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- 12 individuals with paranoid schizophrenia and 12 individuals without this diagnosis, postmortem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high performance liquid chromatography coupled with mass spectrometry for 445 lipids, 4 different regions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13" name="Google Shape;885;p 1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Dataset Description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11586960" y="62208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896;p11"/>
          <p:cNvSpPr/>
          <p:nvPr/>
        </p:nvSpPr>
        <p:spPr>
          <a:xfrm>
            <a:off x="914400" y="1828800"/>
            <a:ext cx="10352160" cy="48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External RNA-seq dataset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anterior cingulate cortex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dorsolateral prefrontal cortex 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nucleus accumbens 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3 groups of 24 patients</a:t>
            </a:r>
            <a:endParaRPr b="0" lang="en-US" sz="2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schizophrenia, bipolar disorder, or major depressive disorder, and from 24 control subjects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16" name="Google Shape;885;p 2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Dataset Description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11586960" y="62208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7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18" name="" descr=""/>
          <p:cNvPicPr/>
          <p:nvPr/>
        </p:nvPicPr>
        <p:blipFill>
          <a:blip r:embed="rId1"/>
          <a:stretch/>
        </p:blipFill>
        <p:spPr>
          <a:xfrm>
            <a:off x="7086600" y="1624320"/>
            <a:ext cx="2971800" cy="249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948;p18"/>
          <p:cNvSpPr/>
          <p:nvPr/>
        </p:nvSpPr>
        <p:spPr>
          <a:xfrm>
            <a:off x="454320" y="1904400"/>
            <a:ext cx="1028916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Batch-effect removal for making external datasets comparable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620" name="" descr=""/>
          <p:cNvPicPr/>
          <p:nvPr/>
        </p:nvPicPr>
        <p:blipFill>
          <a:blip r:embed="rId1"/>
          <a:stretch/>
        </p:blipFill>
        <p:spPr>
          <a:xfrm>
            <a:off x="1636200" y="2971800"/>
            <a:ext cx="4650120" cy="3483000"/>
          </a:xfrm>
          <a:prstGeom prst="rect">
            <a:avLst/>
          </a:prstGeom>
          <a:ln w="0">
            <a:noFill/>
          </a:ln>
        </p:spPr>
      </p:pic>
      <p:pic>
        <p:nvPicPr>
          <p:cNvPr id="621" name="" descr=""/>
          <p:cNvPicPr/>
          <p:nvPr/>
        </p:nvPicPr>
        <p:blipFill>
          <a:blip r:embed="rId2"/>
          <a:stretch/>
        </p:blipFill>
        <p:spPr>
          <a:xfrm>
            <a:off x="7155000" y="2986200"/>
            <a:ext cx="4554360" cy="3411360"/>
          </a:xfrm>
          <a:prstGeom prst="rect">
            <a:avLst/>
          </a:prstGeom>
          <a:ln w="0">
            <a:noFill/>
          </a:ln>
        </p:spPr>
      </p:pic>
      <p:sp>
        <p:nvSpPr>
          <p:cNvPr id="622" name=""/>
          <p:cNvSpPr/>
          <p:nvPr/>
        </p:nvSpPr>
        <p:spPr>
          <a:xfrm>
            <a:off x="7219800" y="2863800"/>
            <a:ext cx="46422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PCA of Nucleus Accumbens, BE removed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2532240" y="2935800"/>
            <a:ext cx="34095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PCA of Nucleus Accumbens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4" name="Google Shape;908;p 6"/>
          <p:cNvSpPr/>
          <p:nvPr/>
        </p:nvSpPr>
        <p:spPr>
          <a:xfrm>
            <a:off x="914400" y="64764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11586960" y="62208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8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908;p13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27" name="Google Shape;909;p13"/>
          <p:cNvSpPr/>
          <p:nvPr/>
        </p:nvSpPr>
        <p:spPr>
          <a:xfrm>
            <a:off x="450000" y="1832400"/>
            <a:ext cx="571860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Data Normalization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for each brain we make the sum of all observations for each gene and lipid equal to zero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628" name="Google Shape;910;p13" descr=""/>
          <p:cNvPicPr/>
          <p:nvPr/>
        </p:nvPicPr>
        <p:blipFill>
          <a:blip r:embed="rId1"/>
          <a:stretch/>
        </p:blipFill>
        <p:spPr>
          <a:xfrm>
            <a:off x="6414480" y="1987920"/>
            <a:ext cx="5247720" cy="3930840"/>
          </a:xfrm>
          <a:prstGeom prst="rect">
            <a:avLst/>
          </a:prstGeom>
          <a:ln w="0">
            <a:noFill/>
          </a:ln>
        </p:spPr>
      </p:pic>
      <p:sp>
        <p:nvSpPr>
          <p:cNvPr id="629" name=""/>
          <p:cNvSpPr/>
          <p:nvPr/>
        </p:nvSpPr>
        <p:spPr>
          <a:xfrm>
            <a:off x="11586960" y="6220800"/>
            <a:ext cx="306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9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916;p14"/>
          <p:cNvSpPr/>
          <p:nvPr/>
        </p:nvSpPr>
        <p:spPr>
          <a:xfrm>
            <a:off x="454320" y="1832400"/>
            <a:ext cx="617184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Data Augmentation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Estimate distributions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Assume independence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Generate data from the                              estimations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Or add external dataset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631" name="Google Shape;917;p14" descr=""/>
          <p:cNvPicPr/>
          <p:nvPr/>
        </p:nvPicPr>
        <p:blipFill>
          <a:blip r:embed="rId1"/>
          <a:stretch/>
        </p:blipFill>
        <p:spPr>
          <a:xfrm>
            <a:off x="6172200" y="1757520"/>
            <a:ext cx="4975920" cy="3354840"/>
          </a:xfrm>
          <a:prstGeom prst="rect">
            <a:avLst/>
          </a:prstGeom>
          <a:ln w="0">
            <a:noFill/>
          </a:ln>
        </p:spPr>
      </p:pic>
      <p:sp>
        <p:nvSpPr>
          <p:cNvPr id="632" name=""/>
          <p:cNvSpPr/>
          <p:nvPr/>
        </p:nvSpPr>
        <p:spPr>
          <a:xfrm>
            <a:off x="7461360" y="5257800"/>
            <a:ext cx="328104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Example lipids distributions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3" name="Google Shape;908;p 1"/>
          <p:cNvSpPr/>
          <p:nvPr/>
        </p:nvSpPr>
        <p:spPr>
          <a:xfrm>
            <a:off x="914400" y="64764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11586960" y="6220800"/>
            <a:ext cx="60444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923;p15"/>
          <p:cNvSpPr/>
          <p:nvPr/>
        </p:nvSpPr>
        <p:spPr>
          <a:xfrm>
            <a:off x="457200" y="1828800"/>
            <a:ext cx="1028916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Training Dataset Preparation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Brain as object (“Is the brain schizophrenic?”)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we do not know exactly which parts of the brain are mostly affected by the illness, and so we need all of the available information about the brain for the classification 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the connection between the same molecules in different regions is lost - they become different columns in the training table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36" name="Google Shape;908;p 2"/>
          <p:cNvSpPr/>
          <p:nvPr/>
        </p:nvSpPr>
        <p:spPr>
          <a:xfrm>
            <a:off x="914400" y="64764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11586960" y="6220800"/>
            <a:ext cx="52812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923;p 2"/>
          <p:cNvSpPr/>
          <p:nvPr/>
        </p:nvSpPr>
        <p:spPr>
          <a:xfrm>
            <a:off x="457200" y="1828800"/>
            <a:ext cx="1028916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Training Dataset Preparation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Region as object (“Does a region belong to schizophrenic brain?”)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here we have fewer features, and the connection between the measurements of the same molecule in different regions is not lost (they become one column in the table)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we lose information about the location of the region, and that some regions come from the same brain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39" name="Google Shape;908;p 3"/>
          <p:cNvSpPr/>
          <p:nvPr/>
        </p:nvSpPr>
        <p:spPr>
          <a:xfrm>
            <a:off x="914400" y="64764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11587320" y="6221160"/>
            <a:ext cx="52812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12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939;p17"/>
          <p:cNvSpPr/>
          <p:nvPr/>
        </p:nvSpPr>
        <p:spPr>
          <a:xfrm>
            <a:off x="457200" y="1828800"/>
            <a:ext cx="525564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2" name="Google Shape;942;p17"/>
          <p:cNvSpPr/>
          <p:nvPr/>
        </p:nvSpPr>
        <p:spPr>
          <a:xfrm>
            <a:off x="6492240" y="1756800"/>
            <a:ext cx="3284640" cy="4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Prediction accuracy (region as object)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Sum of the importances of the corresponding features (brain as object)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43" name="Google Shape;908;p 5"/>
          <p:cNvSpPr/>
          <p:nvPr/>
        </p:nvSpPr>
        <p:spPr>
          <a:xfrm>
            <a:off x="914400" y="64764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44" name="Google Shape;956;p 1"/>
          <p:cNvSpPr/>
          <p:nvPr/>
        </p:nvSpPr>
        <p:spPr>
          <a:xfrm>
            <a:off x="457200" y="1828800"/>
            <a:ext cx="5255640" cy="47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Importance Estimation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Random Forest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the impurity-based feature importances. The importance of a feature is computed as the (normalized) total reduction of the criterion brought by that feature. It is also known as the Gini importance.</a:t>
            </a:r>
            <a:endParaRPr b="0" lang="en-US" sz="1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Permutation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645" name="" descr=""/>
          <p:cNvPicPr/>
          <p:nvPr/>
        </p:nvPicPr>
        <p:blipFill>
          <a:blip r:embed="rId1"/>
          <a:stretch/>
        </p:blipFill>
        <p:spPr>
          <a:xfrm>
            <a:off x="1371600" y="4813200"/>
            <a:ext cx="3464280" cy="1311480"/>
          </a:xfrm>
          <a:prstGeom prst="rect">
            <a:avLst/>
          </a:prstGeom>
          <a:ln w="0">
            <a:noFill/>
          </a:ln>
        </p:spPr>
      </p:pic>
      <p:sp>
        <p:nvSpPr>
          <p:cNvPr id="646" name=""/>
          <p:cNvSpPr/>
          <p:nvPr/>
        </p:nvSpPr>
        <p:spPr>
          <a:xfrm>
            <a:off x="11587320" y="6221160"/>
            <a:ext cx="52812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13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955;p19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Discussion of the results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48" name="Google Shape;956;p19"/>
          <p:cNvSpPr/>
          <p:nvPr/>
        </p:nvSpPr>
        <p:spPr>
          <a:xfrm>
            <a:off x="457200" y="1828800"/>
            <a:ext cx="1028916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Data has been augmented</a:t>
            </a:r>
            <a:endParaRPr b="0" lang="en-US" sz="2800" spc="-1" strike="noStrike">
              <a:latin typeface="Arial"/>
            </a:endParaRPr>
          </a:p>
          <a:p>
            <a:pPr marL="457200" indent="-2160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Transcriptomics – by external dataset, and synthetic generation</a:t>
            </a:r>
            <a:endParaRPr b="0" lang="en-US" sz="2800" spc="-1" strike="noStrike">
              <a:latin typeface="Arial"/>
            </a:endParaRPr>
          </a:p>
          <a:p>
            <a:pPr marL="457200" indent="-216000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- Lipidomics: by synthetic generation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649" name="" descr=""/>
          <p:cNvPicPr/>
          <p:nvPr/>
        </p:nvPicPr>
        <p:blipFill>
          <a:blip r:embed="rId1"/>
          <a:stretch/>
        </p:blipFill>
        <p:spPr>
          <a:xfrm>
            <a:off x="1618560" y="3657600"/>
            <a:ext cx="3883680" cy="2512080"/>
          </a:xfrm>
          <a:prstGeom prst="rect">
            <a:avLst/>
          </a:prstGeom>
          <a:ln w="0">
            <a:noFill/>
          </a:ln>
        </p:spPr>
      </p:pic>
      <p:pic>
        <p:nvPicPr>
          <p:cNvPr id="650" name="" descr=""/>
          <p:cNvPicPr/>
          <p:nvPr/>
        </p:nvPicPr>
        <p:blipFill>
          <a:blip r:embed="rId2"/>
          <a:stretch/>
        </p:blipFill>
        <p:spPr>
          <a:xfrm>
            <a:off x="7169040" y="3657600"/>
            <a:ext cx="3883680" cy="2512080"/>
          </a:xfrm>
          <a:prstGeom prst="rect">
            <a:avLst/>
          </a:prstGeom>
          <a:ln w="0">
            <a:noFill/>
          </a:ln>
        </p:spPr>
      </p:pic>
      <p:sp>
        <p:nvSpPr>
          <p:cNvPr id="651" name=""/>
          <p:cNvSpPr/>
          <p:nvPr/>
        </p:nvSpPr>
        <p:spPr>
          <a:xfrm>
            <a:off x="1738800" y="6184800"/>
            <a:ext cx="42030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Region as object, real lipidomics data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6994800" y="6196680"/>
            <a:ext cx="46620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Region as object, synthetic lipidomics data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11587320" y="6221160"/>
            <a:ext cx="52812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14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955;p 2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Discussion of the results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55" name="Google Shape;956;p 3"/>
          <p:cNvSpPr/>
          <p:nvPr/>
        </p:nvSpPr>
        <p:spPr>
          <a:xfrm>
            <a:off x="457200" y="1828800"/>
            <a:ext cx="1028916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11587320" y="6221160"/>
            <a:ext cx="52812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15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57" name="" descr=""/>
          <p:cNvPicPr/>
          <p:nvPr/>
        </p:nvPicPr>
        <p:blipFill>
          <a:blip r:embed="rId1"/>
          <a:stretch/>
        </p:blipFill>
        <p:spPr>
          <a:xfrm>
            <a:off x="2454840" y="2319480"/>
            <a:ext cx="8067240" cy="268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955;p 3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Discussion of the results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59" name="Google Shape;956;p 5"/>
          <p:cNvSpPr/>
          <p:nvPr/>
        </p:nvSpPr>
        <p:spPr>
          <a:xfrm>
            <a:off x="457200" y="1828800"/>
            <a:ext cx="1028916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Stability analysis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1143000" y="5760720"/>
            <a:ext cx="54846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Comparison of importances of the regions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PearsonR = 0.17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6858000" y="5760720"/>
            <a:ext cx="50274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Comparison of importances of regions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PearsonR=-0.02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62" name="" descr=""/>
          <p:cNvPicPr/>
          <p:nvPr/>
        </p:nvPicPr>
        <p:blipFill>
          <a:blip r:embed="rId1"/>
          <a:stretch/>
        </p:blipFill>
        <p:spPr>
          <a:xfrm>
            <a:off x="1371600" y="2361240"/>
            <a:ext cx="5027760" cy="3360240"/>
          </a:xfrm>
          <a:prstGeom prst="rect">
            <a:avLst/>
          </a:prstGeom>
          <a:ln w="0">
            <a:noFill/>
          </a:ln>
        </p:spPr>
      </p:pic>
      <p:pic>
        <p:nvPicPr>
          <p:cNvPr id="663" name="" descr=""/>
          <p:cNvPicPr/>
          <p:nvPr/>
        </p:nvPicPr>
        <p:blipFill>
          <a:blip r:embed="rId2"/>
          <a:stretch/>
        </p:blipFill>
        <p:spPr>
          <a:xfrm>
            <a:off x="6716880" y="2394000"/>
            <a:ext cx="4786200" cy="3198960"/>
          </a:xfrm>
          <a:prstGeom prst="rect">
            <a:avLst/>
          </a:prstGeom>
          <a:ln w="0">
            <a:noFill/>
          </a:ln>
        </p:spPr>
      </p:pic>
      <p:sp>
        <p:nvSpPr>
          <p:cNvPr id="664" name=""/>
          <p:cNvSpPr/>
          <p:nvPr/>
        </p:nvSpPr>
        <p:spPr>
          <a:xfrm>
            <a:off x="11587320" y="6221160"/>
            <a:ext cx="52812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16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969;p21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Conclusions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66" name="Google Shape;970;p21"/>
          <p:cNvSpPr/>
          <p:nvPr/>
        </p:nvSpPr>
        <p:spPr>
          <a:xfrm>
            <a:off x="457200" y="1828800"/>
            <a:ext cx="8285760" cy="35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indent="-2286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67" name="Google Shape;956;p 4"/>
          <p:cNvSpPr/>
          <p:nvPr/>
        </p:nvSpPr>
        <p:spPr>
          <a:xfrm>
            <a:off x="457200" y="1828800"/>
            <a:ext cx="1142748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Small dataset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Data augmentation (synthetic dataset generation + external dataset)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Classification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Importance estimation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Stability analysis</a:t>
            </a: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11587320" y="6221160"/>
            <a:ext cx="52812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17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1003;p25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Additional Slides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994;p24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Acknowledgements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71" name="Google Shape;995;p24"/>
          <p:cNvSpPr/>
          <p:nvPr/>
        </p:nvSpPr>
        <p:spPr>
          <a:xfrm>
            <a:off x="533520" y="2408400"/>
            <a:ext cx="8285760" cy="35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Maria Osetrova, research engineer at Skoltech Center of Life Sciences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Provided the dataset and explanation of its file structure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Skoltech for giving the opportunity to do computations on Arcuda supercomputer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955;p 1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Discussion of the results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73" name="Google Shape;956;p 2"/>
          <p:cNvSpPr/>
          <p:nvPr/>
        </p:nvSpPr>
        <p:spPr>
          <a:xfrm>
            <a:off x="457200" y="1828800"/>
            <a:ext cx="1028916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Stability analysis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1143000" y="5760720"/>
            <a:ext cx="54846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Lipidomics data, brain treated as object, importances of molecules in regions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6858000" y="5760720"/>
            <a:ext cx="50274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Lipidomics data, brain treated as object, importances of regions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76" name="" descr=""/>
          <p:cNvPicPr/>
          <p:nvPr/>
        </p:nvPicPr>
        <p:blipFill>
          <a:blip r:embed="rId1"/>
          <a:stretch/>
        </p:blipFill>
        <p:spPr>
          <a:xfrm>
            <a:off x="947160" y="2514600"/>
            <a:ext cx="5045400" cy="3283200"/>
          </a:xfrm>
          <a:prstGeom prst="rect">
            <a:avLst/>
          </a:prstGeom>
          <a:ln w="0">
            <a:noFill/>
          </a:ln>
        </p:spPr>
      </p:pic>
      <p:pic>
        <p:nvPicPr>
          <p:cNvPr id="677" name="" descr=""/>
          <p:cNvPicPr/>
          <p:nvPr/>
        </p:nvPicPr>
        <p:blipFill>
          <a:blip r:embed="rId2"/>
          <a:stretch/>
        </p:blipFill>
        <p:spPr>
          <a:xfrm>
            <a:off x="6585480" y="2514600"/>
            <a:ext cx="4842000" cy="324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931;p16"/>
          <p:cNvSpPr/>
          <p:nvPr/>
        </p:nvSpPr>
        <p:spPr>
          <a:xfrm>
            <a:off x="457200" y="1828800"/>
            <a:ext cx="10289160" cy="30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Training Dataset Preparation</a:t>
            </a: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457200" algn="just">
              <a:lnSpc>
                <a:spcPct val="9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679" name="Google Shape;932;p 1" descr=""/>
          <p:cNvPicPr/>
          <p:nvPr/>
        </p:nvPicPr>
        <p:blipFill>
          <a:blip r:embed="rId1"/>
          <a:stretch/>
        </p:blipFill>
        <p:spPr>
          <a:xfrm>
            <a:off x="6400800" y="2743200"/>
            <a:ext cx="5026680" cy="3380760"/>
          </a:xfrm>
          <a:prstGeom prst="rect">
            <a:avLst/>
          </a:prstGeom>
          <a:ln w="0">
            <a:noFill/>
          </a:ln>
        </p:spPr>
      </p:pic>
      <p:pic>
        <p:nvPicPr>
          <p:cNvPr id="680" name="Google Shape;933;p 1" descr=""/>
          <p:cNvPicPr/>
          <p:nvPr/>
        </p:nvPicPr>
        <p:blipFill>
          <a:blip r:embed="rId2"/>
          <a:stretch/>
        </p:blipFill>
        <p:spPr>
          <a:xfrm>
            <a:off x="914400" y="2743200"/>
            <a:ext cx="5026680" cy="3380760"/>
          </a:xfrm>
          <a:prstGeom prst="rect">
            <a:avLst/>
          </a:prstGeom>
          <a:ln w="0">
            <a:noFill/>
          </a:ln>
        </p:spPr>
      </p:pic>
      <p:sp>
        <p:nvSpPr>
          <p:cNvPr id="681" name="Google Shape;908;p 7"/>
          <p:cNvSpPr/>
          <p:nvPr/>
        </p:nvSpPr>
        <p:spPr>
          <a:xfrm>
            <a:off x="914400" y="64764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Methods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1677600" y="6174360"/>
            <a:ext cx="42642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Real lipidomics dataset, brain as object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7149600" y="6174360"/>
            <a:ext cx="450720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Real lipidomics dataset, region as object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11587320" y="6221160"/>
            <a:ext cx="52812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11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1003;p 6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Additional Slides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686" name="" descr=""/>
          <p:cNvPicPr/>
          <p:nvPr/>
        </p:nvPicPr>
        <p:blipFill>
          <a:blip r:embed="rId1"/>
          <a:stretch/>
        </p:blipFill>
        <p:spPr>
          <a:xfrm>
            <a:off x="3583080" y="2057400"/>
            <a:ext cx="5102280" cy="3410280"/>
          </a:xfrm>
          <a:prstGeom prst="rect">
            <a:avLst/>
          </a:prstGeom>
          <a:ln w="0">
            <a:noFill/>
          </a:ln>
        </p:spPr>
      </p:pic>
      <p:sp>
        <p:nvSpPr>
          <p:cNvPr id="687" name=""/>
          <p:cNvSpPr/>
          <p:nvPr/>
        </p:nvSpPr>
        <p:spPr>
          <a:xfrm>
            <a:off x="3459600" y="5571000"/>
            <a:ext cx="6494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Comparison of importances of lipids based on RF and on SVM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1003;p 5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Additional Slides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689" name="" descr=""/>
          <p:cNvPicPr/>
          <p:nvPr/>
        </p:nvPicPr>
        <p:blipFill>
          <a:blip r:embed="rId1"/>
          <a:stretch/>
        </p:blipFill>
        <p:spPr>
          <a:xfrm>
            <a:off x="2568240" y="2243880"/>
            <a:ext cx="3303360" cy="2979360"/>
          </a:xfrm>
          <a:prstGeom prst="rect">
            <a:avLst/>
          </a:prstGeom>
          <a:ln w="0">
            <a:noFill/>
          </a:ln>
        </p:spPr>
      </p:pic>
      <p:pic>
        <p:nvPicPr>
          <p:cNvPr id="690" name="" descr=""/>
          <p:cNvPicPr/>
          <p:nvPr/>
        </p:nvPicPr>
        <p:blipFill>
          <a:blip r:embed="rId2"/>
          <a:stretch/>
        </p:blipFill>
        <p:spPr>
          <a:xfrm>
            <a:off x="6564240" y="2315880"/>
            <a:ext cx="3303360" cy="297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1003;p 4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Additional Slides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692" name="" descr=""/>
          <p:cNvPicPr/>
          <p:nvPr/>
        </p:nvPicPr>
        <p:blipFill>
          <a:blip r:embed="rId1"/>
          <a:stretch/>
        </p:blipFill>
        <p:spPr>
          <a:xfrm>
            <a:off x="1990800" y="1812960"/>
            <a:ext cx="8108280" cy="37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1003;p 3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Additional Slides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694" name="" descr=""/>
          <p:cNvPicPr/>
          <p:nvPr/>
        </p:nvPicPr>
        <p:blipFill>
          <a:blip r:embed="rId1"/>
          <a:stretch/>
        </p:blipFill>
        <p:spPr>
          <a:xfrm>
            <a:off x="3837960" y="1941480"/>
            <a:ext cx="4579560" cy="3008160"/>
          </a:xfrm>
          <a:prstGeom prst="rect">
            <a:avLst/>
          </a:prstGeom>
          <a:ln w="0">
            <a:noFill/>
          </a:ln>
        </p:spPr>
      </p:pic>
      <p:sp>
        <p:nvSpPr>
          <p:cNvPr id="695" name=""/>
          <p:cNvSpPr/>
          <p:nvPr/>
        </p:nvSpPr>
        <p:spPr>
          <a:xfrm>
            <a:off x="3371040" y="5175000"/>
            <a:ext cx="61776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Random Forest importances of each region, brain as object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1003;p 1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Additional Slides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697" name="" descr=""/>
          <p:cNvPicPr/>
          <p:nvPr/>
        </p:nvPicPr>
        <p:blipFill>
          <a:blip r:embed="rId1"/>
          <a:stretch/>
        </p:blipFill>
        <p:spPr>
          <a:xfrm>
            <a:off x="3237840" y="1965240"/>
            <a:ext cx="5779800" cy="2960640"/>
          </a:xfrm>
          <a:prstGeom prst="rect">
            <a:avLst/>
          </a:prstGeom>
          <a:ln w="0">
            <a:noFill/>
          </a:ln>
        </p:spPr>
      </p:pic>
      <p:sp>
        <p:nvSpPr>
          <p:cNvPr id="698" name=""/>
          <p:cNvSpPr/>
          <p:nvPr/>
        </p:nvSpPr>
        <p:spPr>
          <a:xfrm>
            <a:off x="2775600" y="5306400"/>
            <a:ext cx="7444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Random Forest importances of each lipid in each region, brain as object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1003;p 2"/>
          <p:cNvSpPr/>
          <p:nvPr/>
        </p:nvSpPr>
        <p:spPr>
          <a:xfrm>
            <a:off x="914400" y="640080"/>
            <a:ext cx="8285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Additional Slides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700" name="" descr=""/>
          <p:cNvPicPr/>
          <p:nvPr/>
        </p:nvPicPr>
        <p:blipFill>
          <a:blip r:embed="rId1"/>
          <a:stretch/>
        </p:blipFill>
        <p:spPr>
          <a:xfrm>
            <a:off x="3159000" y="1493280"/>
            <a:ext cx="5398560" cy="3711600"/>
          </a:xfrm>
          <a:prstGeom prst="rect">
            <a:avLst/>
          </a:prstGeom>
          <a:ln w="0">
            <a:noFill/>
          </a:ln>
        </p:spPr>
      </p:pic>
      <p:sp>
        <p:nvSpPr>
          <p:cNvPr id="701" name=""/>
          <p:cNvSpPr/>
          <p:nvPr/>
        </p:nvSpPr>
        <p:spPr>
          <a:xfrm>
            <a:off x="3313800" y="5268960"/>
            <a:ext cx="5505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Distribution of the prediction accuracy for the regions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866;p7"/>
          <p:cNvSpPr/>
          <p:nvPr/>
        </p:nvSpPr>
        <p:spPr>
          <a:xfrm>
            <a:off x="914400" y="640080"/>
            <a:ext cx="11731680" cy="13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Arial"/>
              </a:rPr>
              <a:t>General problem / Introduction / Background 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703" name="Google Shape;867;p7"/>
          <p:cNvSpPr/>
          <p:nvPr/>
        </p:nvSpPr>
        <p:spPr>
          <a:xfrm>
            <a:off x="463320" y="2863800"/>
            <a:ext cx="7075440" cy="28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 Brodmann area is a region of the cerebral cortex, in the human or other primate brain, defined by its cytoarchitecture, or histological structure and organization of cells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704" name="Google Shape;868;p7" descr=""/>
          <p:cNvPicPr/>
          <p:nvPr/>
        </p:nvPicPr>
        <p:blipFill>
          <a:blip r:embed="rId1"/>
          <a:stretch/>
        </p:blipFill>
        <p:spPr>
          <a:xfrm>
            <a:off x="8229600" y="2000880"/>
            <a:ext cx="3095640" cy="393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Daria Tokmeninova</dc:creator>
  <dc:description/>
  <dc:language>en-US</dc:language>
  <cp:lastModifiedBy/>
  <dcterms:modified xsi:type="dcterms:W3CDTF">2023-06-07T22:34:58Z</dcterms:modified>
  <cp:revision>61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12</vt:i4>
  </property>
</Properties>
</file>